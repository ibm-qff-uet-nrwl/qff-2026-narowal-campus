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21"/>
    <p:sldId id="263" r:id="rId9"/>
    <p:sldId id="264" r:id="rId10"/>
    <p:sldId id="274" r:id="rId20"/>
    <p:sldId id="273" r:id="rId19"/>
    <p:sldId id="262" r:id="rId8"/>
    <p:sldId id="266" r:id="rId12"/>
    <p:sldId id="268" r:id="rId14"/>
    <p:sldId id="276" r:id="rId22"/>
    <p:sldId id="277" r:id="rId23"/>
  </p:sldIdLst>
  <p:sldSz cx="9144000" cy="5143500" type="screen16x9"/>
  <p:notesSz cx="6858000" cy="9144000"/>
  <p:embeddedFontLst>
    <p:embeddedFont>
      <p:font typeface="Anaheim" panose="020B0604020202020204" charset="0"/>
      <p:regular r:id="rId25"/>
      <p:bold r:id="rId26"/>
    </p:embeddedFont>
    <p:embeddedFont>
      <p:font typeface="Hanken Grotesk" panose="020B0604020202020204" charset="0"/>
      <p:regular r:id="rId27"/>
      <p:bold r:id="rId28"/>
      <p:italic r:id="rId29"/>
      <p:boldItalic r:id="rId30"/>
    </p:embeddedFont>
    <p:embeddedFont>
      <p:font typeface="IBM Plex Sans" panose="020B0503050203000203" pitchFamily="34" charset="0"/>
      <p:regular r:id="rId31"/>
      <p:bold r:id="rId32"/>
      <p:italic r:id="rId33"/>
      <p:boldItalic r:id="rId34"/>
    </p:embeddedFont>
    <p:embeddedFont>
      <p:font typeface="Nunito Light" pitchFamily="2" charset="0"/>
      <p:regular r:id="rId35"/>
    </p:embeddedFont>
    <p:embeddedFont>
      <p:font typeface="Raleway" pitchFamily="2" charset="0"/>
      <p:regular r:id="rId36"/>
      <p:bold r:id="rId37"/>
      <p:italic r:id="rId38"/>
      <p:boldItalic r:id="rId39"/>
    </p:embeddedFont>
    <p:embeddedFont>
      <p:font typeface="Raleway Black" pitchFamily="2" charset="0"/>
      <p:bold r:id="rId40"/>
      <p:boldItalic r:id="rId41"/>
    </p:embeddedFont>
    <p:embeddedFont>
      <p:font typeface="Raleway ExtraBold" pitchFamily="2" charset="0"/>
      <p:bold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01A04D-C638-4EFC-8514-7DB338901487}">
  <a:tblStyle styleId="{6001A04D-C638-4EFC-8514-7DB3389014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0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4" Type="http://schemas.openxmlformats.org/officeDocument/2006/relationships/slide" Target="slides/slide13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font" Target="fonts/font17.fntdata"/><Relationship Id="rId42" Type="http://schemas.openxmlformats.org/officeDocument/2006/relationships/font" Target="fonts/font18.fntdata"/><Relationship Id="rId43" Type="http://schemas.openxmlformats.org/officeDocument/2006/relationships/font" Target="fonts/font19.fntdata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facb4c0697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3facb4c0697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facb4c0697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facb4c0697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facb4c0697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3facb4c0697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216241d4a3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216241d4a3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16bb02b26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16bb02b26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3facb4c0697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3facb4c0697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avLst/>
                <a:gdLst/>
                <a:ahLst/>
                <a:cxnLst/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avLst/>
              <a:gdLst/>
              <a:ahLst/>
              <a:cxnLst/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avLst/>
              <a:gdLst/>
              <a:ahLst/>
              <a:cxnLst/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avLst/>
              <a:gdLst/>
              <a:ahLst/>
              <a:cxnLst/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avLst/>
                <a:gdLst/>
                <a:ahLst/>
                <a:cxnLst/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avLst/>
              <a:gdLst/>
              <a:ahLst/>
              <a:cxnLst/>
              <a:rect l="l" t="t" r="r" b="b"/>
              <a:pathLst>
                <a:path w="18075" h="65507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avLst/>
                <a:gdLst/>
                <a:ahLst/>
                <a:cxnLst/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avLst/>
                <a:gdLst/>
                <a:ahLst/>
                <a:cxnLst/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ocs.google.com/spreadsheets/d/1kzDdCUJhF5jRAMppPV42AWyWWGjeS6UnPmm8dyOKRBM/copy" TargetMode="External"/><Relationship Id="rId4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freepik.com/free-vector/artificial-intelligence-concept-twitter-header_42089917.htm/?utm_source=slidesgo_template&amp;utm_medium=referral-link&amp;utm_campaign=sg_resources&amp;utm_content=freepik" TargetMode="External"/><Relationship Id="rId4" Type="http://schemas.openxmlformats.org/officeDocument/2006/relationships/hyperlink" Target="https://www.freepik.com/free-vector/artificial-intelligence-concept-youtube-thumbnail_42089932.htm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photo/woman-wearing-virtual-reality-simulator_13327676.htm/?utm_source=slidesgo_template&amp;utm_medium=referral-link&amp;utm_campaign=sg_resources&amp;utm_content=freepik" TargetMode="External"/><Relationship Id="rId6" Type="http://schemas.openxmlformats.org/officeDocument/2006/relationships/hyperlink" Target="https://www.freepik.com/free-photo/medium-shot-woman-holding-smartphone_23494060.htm/?utm_source=slidesgo_template&amp;utm_medium=referral-link&amp;utm_campaign=sg_resources&amp;utm_content=freepik" TargetMode="External"/><Relationship Id="rId7" Type="http://schemas.openxmlformats.org/officeDocument/2006/relationships/hyperlink" Target="https://www.flaticon.com/packs/innovation-11?word=tech/?utm_source=slidesgo_template&amp;utm_medium=referral-link&amp;utm_campaign=sg_resources&amp;utm_content=flaticon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5"/>
          <p:cNvSpPr txBox="1">
            <a:spLocks noGrp="1"/>
          </p:cNvSpPr>
          <p:nvPr>
            <p:ph type="ctrTitle"/>
          </p:nvPr>
        </p:nvSpPr>
        <p:spPr>
          <a:xfrm>
            <a:off x="924150" y="1968579"/>
            <a:ext cx="4384800" cy="69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5"/>
          <p:cNvSpPr/>
          <p:nvPr/>
        </p:nvSpPr>
        <p:spPr>
          <a:xfrm rot="-5400000">
            <a:off x="419500" y="2161619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8" name="Google Shape;658;p25"/>
          <p:cNvGrpSpPr/>
          <p:nvPr/>
        </p:nvGrpSpPr>
        <p:grpSpPr>
          <a:xfrm rot="10800000" flipH="1">
            <a:off x="-1034983" y="213757"/>
            <a:ext cx="4791669" cy="923822"/>
            <a:chOff x="-78438" y="3775205"/>
            <a:chExt cx="4791669" cy="923822"/>
          </a:xfrm>
        </p:grpSpPr>
        <p:cxnSp>
          <p:nvCxnSpPr>
            <p:cNvPr id="659" name="Google Shape;659;p25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0" name="Google Shape;660;p25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61" name="Google Shape;661;p25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2" name="Google Shape;662;p25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63" name="Google Shape;663;p25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664" name="Google Shape;664;p25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665" name="Google Shape;665;p25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66" name="Google Shape;6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536" y="615433"/>
            <a:ext cx="695225" cy="69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173" y="327721"/>
            <a:ext cx="3306552" cy="1270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3974" y="1502137"/>
            <a:ext cx="2374900" cy="23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173" y="327721"/>
            <a:ext cx="3306552" cy="1270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3974" y="1502137"/>
            <a:ext cx="2374900" cy="23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9944" y="2671471"/>
            <a:ext cx="700544" cy="24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92797" y="2677240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13825" y="2677228"/>
            <a:ext cx="835617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92797" y="2677240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13825" y="2677228"/>
            <a:ext cx="835617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25"/>
          <p:cNvSpPr txBox="1">
            <a:spLocks noGrp="1"/>
          </p:cNvSpPr>
          <p:nvPr>
            <p:ph type="ctrTitle"/>
          </p:nvPr>
        </p:nvSpPr>
        <p:spPr>
          <a:xfrm>
            <a:off x="987654" y="3202812"/>
            <a:ext cx="4384800" cy="92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677" name="TextBox 676"/>
          <p:cNvSpPr txBox="1"/>
          <p:nvPr/>
        </p:nvSpPr>
        <p:spPr>
          <a:xfrm>
            <a:off x="868680" y="155448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Raleway"/>
              </a:rPr>
              <a:t>Measurement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896112" y="220000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anken Grotesk"/>
              </a:rPr>
              <a:t>Turning Qubits Into Bits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914400" y="3154680"/>
            <a:ext cx="420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IBM Quantum School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914400" y="3611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Saad Ejaz  •  Guest Speaker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6"/>
          <p:cNvSpPr txBox="1">
            <a:spLocks noGrp="1"/>
          </p:cNvSpPr>
          <p:nvPr>
            <p:ph type="title"/>
          </p:nvPr>
        </p:nvSpPr>
        <p:spPr>
          <a:xfrm>
            <a:off x="720000" y="99938"/>
            <a:ext cx="7704000" cy="12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endParaRPr sz="3000" dirty="0"/>
          </a:p>
        </p:txBody>
      </p:sp>
      <p:pic>
        <p:nvPicPr>
          <p:cNvPr id="682" name="Google Shape;68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26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01</a:t>
            </a:r>
          </a:p>
        </p:txBody>
      </p:sp>
      <p:sp>
        <p:nvSpPr>
          <p:cNvPr id="684" name="Google Shape;684;p26"/>
          <p:cNvSpPr txBox="1"/>
          <p:nvPr/>
        </p:nvSpPr>
        <p:spPr>
          <a:xfrm>
            <a:off x="934263" y="1441975"/>
            <a:ext cx="3000000" cy="2252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●"/>
            </a:pPr>
            <a:endParaRPr b="1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5" name="Google Shape;685;p26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86" name="Google Shape;686;p26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687" name="Google Shape;687;p26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688" name="Google Shape;688;p26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9" name="TextBox 688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SPEAKER INTRODUCTION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914400" y="14173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Hanken Grotesk"/>
              </a:rPr>
              <a:t>Saad Ejaz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91440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Guest Speaker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914400" y="26060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Computer Engineering student and IBM Quantum School tutor, introducing quantum measurement and how a qubit state becomes a classical result.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914400" y="3950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IBM Quantum School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7"/>
          <p:cNvSpPr txBox="1">
            <a:spLocks noGrp="1"/>
          </p:cNvSpPr>
          <p:nvPr>
            <p:ph type="subTitle" idx="8"/>
          </p:nvPr>
        </p:nvSpPr>
        <p:spPr>
          <a:xfrm>
            <a:off x="4010952" y="1769025"/>
            <a:ext cx="35973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/>
          </a:p>
        </p:txBody>
      </p:sp>
      <p:sp>
        <p:nvSpPr>
          <p:cNvPr id="694" name="Google Shape;694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27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27"/>
          <p:cNvSpPr txBox="1">
            <a:spLocks noGrp="1"/>
          </p:cNvSpPr>
          <p:nvPr>
            <p:ph type="subTitle" idx="9"/>
          </p:nvPr>
        </p:nvSpPr>
        <p:spPr>
          <a:xfrm>
            <a:off x="4010952" y="2336725"/>
            <a:ext cx="33855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/>
          </a:p>
        </p:txBody>
      </p:sp>
      <p:sp>
        <p:nvSpPr>
          <p:cNvPr id="703" name="Google Shape;703;p27"/>
          <p:cNvSpPr txBox="1">
            <a:spLocks noGrp="1"/>
          </p:cNvSpPr>
          <p:nvPr>
            <p:ph type="subTitle" idx="13"/>
          </p:nvPr>
        </p:nvSpPr>
        <p:spPr>
          <a:xfrm>
            <a:off x="4010950" y="2904425"/>
            <a:ext cx="37209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27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27"/>
          <p:cNvSpPr txBox="1">
            <a:spLocks noGrp="1"/>
          </p:cNvSpPr>
          <p:nvPr>
            <p:ph type="subTitle" idx="15"/>
          </p:nvPr>
        </p:nvSpPr>
        <p:spPr>
          <a:xfrm>
            <a:off x="4010949" y="4039825"/>
            <a:ext cx="49380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6" name="Google Shape;706;p27"/>
          <p:cNvGrpSpPr/>
          <p:nvPr/>
        </p:nvGrpSpPr>
        <p:grpSpPr>
          <a:xfrm>
            <a:off x="1339397" y="1762071"/>
            <a:ext cx="983645" cy="2854839"/>
            <a:chOff x="472500" y="1762000"/>
            <a:chExt cx="1193310" cy="3463350"/>
          </a:xfrm>
        </p:grpSpPr>
        <p:grpSp>
          <p:nvGrpSpPr>
            <p:cNvPr id="707" name="Google Shape;707;p27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4" cy="1266614"/>
            </a:xfrm>
          </p:grpSpPr>
          <p:sp>
            <p:nvSpPr>
              <p:cNvPr id="708" name="Google Shape;708;p2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78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5350" tIns="75350" rIns="75350" bIns="75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54"/>
              </a:p>
            </p:txBody>
          </p:sp>
          <p:sp>
            <p:nvSpPr>
              <p:cNvPr id="709" name="Google Shape;709;p2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7850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75350" tIns="75350" rIns="75350" bIns="75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10" name="Google Shape;710;p27"/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78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/>
          </p:txBody>
        </p:sp>
      </p:grpSp>
      <p:sp>
        <p:nvSpPr>
          <p:cNvPr id="711" name="Google Shape;711;p27"/>
          <p:cNvSpPr txBox="1">
            <a:spLocks noGrp="1"/>
          </p:cNvSpPr>
          <p:nvPr>
            <p:ph type="title" idx="2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02</a:t>
            </a:r>
          </a:p>
        </p:txBody>
      </p:sp>
      <p:sp>
        <p:nvSpPr>
          <p:cNvPr id="712" name="Google Shape;712;p27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13" name="Google Shape;713;p27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14" name="Google Shape;714;p27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15" name="Google Shape;715;p27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6" name="TextBox 715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TABLE OF CONTENTS</a:t>
            </a:r>
          </a:p>
        </p:txBody>
      </p:sp>
      <p:sp>
        <p:nvSpPr>
          <p:cNvPr id="717" name="TextBox 716"/>
          <p:cNvSpPr txBox="1"/>
          <p:nvPr/>
        </p:nvSpPr>
        <p:spPr>
          <a:xfrm>
            <a:off x="96012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01</a:t>
            </a:r>
          </a:p>
        </p:txBody>
      </p:sp>
      <p:sp>
        <p:nvSpPr>
          <p:cNvPr id="718" name="TextBox 717"/>
          <p:cNvSpPr txBox="1"/>
          <p:nvPr/>
        </p:nvSpPr>
        <p:spPr>
          <a:xfrm>
            <a:off x="1691640" y="10972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What Is Measurement?</a:t>
            </a:r>
          </a:p>
        </p:txBody>
      </p:sp>
      <p:sp>
        <p:nvSpPr>
          <p:cNvPr id="719" name="TextBox 718"/>
          <p:cNvSpPr txBox="1"/>
          <p:nvPr/>
        </p:nvSpPr>
        <p:spPr>
          <a:xfrm>
            <a:off x="960120" y="164591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02</a:t>
            </a:r>
          </a:p>
        </p:txBody>
      </p:sp>
      <p:sp>
        <p:nvSpPr>
          <p:cNvPr id="720" name="TextBox 719"/>
          <p:cNvSpPr txBox="1"/>
          <p:nvPr/>
        </p:nvSpPr>
        <p:spPr>
          <a:xfrm>
            <a:off x="1691640" y="164591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How Measurement Works</a:t>
            </a:r>
          </a:p>
        </p:txBody>
      </p:sp>
      <p:sp>
        <p:nvSpPr>
          <p:cNvPr id="721" name="TextBox 720"/>
          <p:cNvSpPr txBox="1"/>
          <p:nvPr/>
        </p:nvSpPr>
        <p:spPr>
          <a:xfrm>
            <a:off x="960120" y="21945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03</a:t>
            </a:r>
          </a:p>
        </p:txBody>
      </p:sp>
      <p:sp>
        <p:nvSpPr>
          <p:cNvPr id="722" name="TextBox 721"/>
          <p:cNvSpPr txBox="1"/>
          <p:nvPr/>
        </p:nvSpPr>
        <p:spPr>
          <a:xfrm>
            <a:off x="1691640" y="2194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Probabilities: Born Rule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960120" y="27432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04</a:t>
            </a:r>
          </a:p>
        </p:txBody>
      </p:sp>
      <p:sp>
        <p:nvSpPr>
          <p:cNvPr id="724" name="TextBox 723"/>
          <p:cNvSpPr txBox="1"/>
          <p:nvPr/>
        </p:nvSpPr>
        <p:spPr>
          <a:xfrm>
            <a:off x="1691640" y="2743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Measurement Bases</a:t>
            </a:r>
          </a:p>
        </p:txBody>
      </p:sp>
      <p:sp>
        <p:nvSpPr>
          <p:cNvPr id="725" name="TextBox 724"/>
          <p:cNvSpPr txBox="1"/>
          <p:nvPr/>
        </p:nvSpPr>
        <p:spPr>
          <a:xfrm>
            <a:off x="960120" y="329183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05</a:t>
            </a:r>
          </a:p>
        </p:txBody>
      </p:sp>
      <p:sp>
        <p:nvSpPr>
          <p:cNvPr id="726" name="TextBox 725"/>
          <p:cNvSpPr txBox="1"/>
          <p:nvPr/>
        </p:nvSpPr>
        <p:spPr>
          <a:xfrm>
            <a:off x="1691640" y="329183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Basic Qiskit Implementation</a:t>
            </a:r>
          </a:p>
        </p:txBody>
      </p:sp>
      <p:sp>
        <p:nvSpPr>
          <p:cNvPr id="727" name="TextBox 726"/>
          <p:cNvSpPr txBox="1"/>
          <p:nvPr/>
        </p:nvSpPr>
        <p:spPr>
          <a:xfrm>
            <a:off x="960120" y="3840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06</a:t>
            </a:r>
          </a:p>
        </p:txBody>
      </p:sp>
      <p:sp>
        <p:nvSpPr>
          <p:cNvPr id="728" name="TextBox 727"/>
          <p:cNvSpPr txBox="1"/>
          <p:nvPr/>
        </p:nvSpPr>
        <p:spPr>
          <a:xfrm>
            <a:off x="1691640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Takeaways &amp; 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8"/>
          <p:cNvSpPr txBox="1">
            <a:spLocks noGrp="1"/>
          </p:cNvSpPr>
          <p:nvPr>
            <p:ph type="title"/>
          </p:nvPr>
        </p:nvSpPr>
        <p:spPr>
          <a:xfrm>
            <a:off x="1782650" y="10522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QISKIT FALL FEST?</a:t>
            </a:r>
            <a:endParaRPr dirty="0"/>
          </a:p>
        </p:txBody>
      </p:sp>
      <p:sp>
        <p:nvSpPr>
          <p:cNvPr id="721" name="Google Shape;721;p28"/>
          <p:cNvSpPr txBox="1">
            <a:spLocks noGrp="1"/>
          </p:cNvSpPr>
          <p:nvPr>
            <p:ph type="subTitle" idx="1"/>
          </p:nvPr>
        </p:nvSpPr>
        <p:spPr>
          <a:xfrm>
            <a:off x="956931" y="1818167"/>
            <a:ext cx="4876950" cy="2613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Hanken Grotesk"/>
              </a:rPr>
              <a:t>A beginner-friendly session on quantum measurement: how a qubit state turns into a classical result, and how to measure in Qiskit.</a:t>
            </a:r>
          </a:p>
        </p:txBody>
      </p:sp>
      <p:pic>
        <p:nvPicPr>
          <p:cNvPr id="722" name="Google Shape;722;p2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06" t="12450" r="2006"/>
          <a:stretch/>
        </p:blipFill>
        <p:spPr>
          <a:xfrm>
            <a:off x="5967850" y="645314"/>
            <a:ext cx="2787000" cy="3558374"/>
          </a:xfrm>
          <a:prstGeom prst="rect">
            <a:avLst/>
          </a:prstGeom>
        </p:spPr>
      </p:pic>
      <p:sp>
        <p:nvSpPr>
          <p:cNvPr id="723" name="Google Shape;723;p28"/>
          <p:cNvSpPr/>
          <p:nvPr/>
        </p:nvSpPr>
        <p:spPr>
          <a:xfrm>
            <a:off x="4752038" y="4203688"/>
            <a:ext cx="2787000" cy="17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28"/>
          <p:cNvSpPr/>
          <p:nvPr/>
        </p:nvSpPr>
        <p:spPr>
          <a:xfrm rot="-5400000">
            <a:off x="1493785" y="751340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28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03</a:t>
            </a:r>
          </a:p>
        </p:txBody>
      </p:sp>
      <p:sp>
        <p:nvSpPr>
          <p:cNvPr id="726" name="Google Shape;726;p28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27" name="Google Shape;727;p28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28" name="Google Shape;728;p28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729" name="Google Shape;729;p28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9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29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29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738" name="Google Shape;738;p29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739" name="Google Shape;739;p29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0" name="Google Shape;740;p29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1" name="Google Shape;741;p29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2" name="Google Shape;742;p29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743" name="Google Shape;743;p29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4" name="Google Shape;744;p29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5" name="Google Shape;745;p29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29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747" name="Google Shape;747;p29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04</a:t>
            </a:r>
          </a:p>
        </p:txBody>
      </p:sp>
      <p:pic>
        <p:nvPicPr>
          <p:cNvPr id="748" name="Google Shape;74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29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50" name="Google Shape;750;p29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51" name="Google Shape;751;p29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52" name="Google Shape;752;p29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3" name="TextBox 752"/>
          <p:cNvSpPr txBox="1"/>
          <p:nvPr/>
        </p:nvSpPr>
        <p:spPr>
          <a:xfrm>
            <a:off x="960120" y="19659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Raleway"/>
              </a:rPr>
              <a:t>INTRODUCTION</a:t>
            </a:r>
          </a:p>
        </p:txBody>
      </p:sp>
      <p:sp>
        <p:nvSpPr>
          <p:cNvPr id="754" name="TextBox 753"/>
          <p:cNvSpPr txBox="1"/>
          <p:nvPr/>
        </p:nvSpPr>
        <p:spPr>
          <a:xfrm>
            <a:off x="4224528" y="1920240"/>
            <a:ext cx="1143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Raleway"/>
              </a:rPr>
              <a:t>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0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05</a:t>
            </a:r>
          </a:p>
        </p:txBody>
      </p:sp>
      <p:sp>
        <p:nvSpPr>
          <p:cNvPr id="765" name="Google Shape;765;p30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66" name="Google Shape;766;p30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67" name="Google Shape;767;p30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68" name="Google Shape;768;p30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9" name="TextBox 768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WHAT IS MEASUREMENT?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914400" y="12344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Hanken Grotesk"/>
              </a:rPr>
              <a:t>Measurement turns a qubit into a classical bit.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914400" y="2103120"/>
            <a:ext cx="47548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Before measuring, a qubit can be in a superposition. Measuring gives one result: 0 or 1.</a:t>
            </a:r>
          </a:p>
          <a:p>
            <a:pPr algn="l"/>
            <a:endParaRPr sz="1700"/>
          </a:p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The state collapses to the result you got.</a:t>
            </a:r>
          </a:p>
        </p:txBody>
      </p:sp>
      <p:sp>
        <p:nvSpPr>
          <p:cNvPr id="772" name="Rounded Rectangle 771"/>
          <p:cNvSpPr/>
          <p:nvPr/>
        </p:nvSpPr>
        <p:spPr>
          <a:xfrm>
            <a:off x="6126480" y="1234440"/>
            <a:ext cx="2286000" cy="594360"/>
          </a:xfrm>
          <a:prstGeom prst="roundRect">
            <a:avLst>
              <a:gd name="adj" fmla="val 18000"/>
            </a:avLst>
          </a:prstGeom>
          <a:solidFill>
            <a:srgbClr val="12102B"/>
          </a:solidFill>
          <a:ln w="15875">
            <a:solidFill>
              <a:srgbClr val="00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Raleway"/>
              </a:rPr>
              <a:t>QUBIT STATE</a:t>
            </a:r>
          </a:p>
        </p:txBody>
      </p:sp>
      <p:sp>
        <p:nvSpPr>
          <p:cNvPr id="773" name="Down Arrow 772"/>
          <p:cNvSpPr/>
          <p:nvPr/>
        </p:nvSpPr>
        <p:spPr>
          <a:xfrm>
            <a:off x="7132320" y="1988820"/>
            <a:ext cx="274320" cy="320040"/>
          </a:xfrm>
          <a:prstGeom prst="downArrow">
            <a:avLst/>
          </a:prstGeom>
          <a:solidFill>
            <a:srgbClr val="00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ounded Rectangle 773"/>
          <p:cNvSpPr/>
          <p:nvPr/>
        </p:nvSpPr>
        <p:spPr>
          <a:xfrm>
            <a:off x="6126480" y="2468880"/>
            <a:ext cx="2286000" cy="594360"/>
          </a:xfrm>
          <a:prstGeom prst="roundRect">
            <a:avLst>
              <a:gd name="adj" fmla="val 18000"/>
            </a:avLst>
          </a:prstGeom>
          <a:solidFill>
            <a:srgbClr val="00DCE6"/>
          </a:solidFill>
          <a:ln w="15875">
            <a:solidFill>
              <a:srgbClr val="00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0A1A"/>
                </a:solidFill>
                <a:latin typeface="Raleway"/>
              </a:rPr>
              <a:t>MEASUREMENT</a:t>
            </a:r>
          </a:p>
        </p:txBody>
      </p:sp>
      <p:sp>
        <p:nvSpPr>
          <p:cNvPr id="775" name="Down Arrow 774"/>
          <p:cNvSpPr/>
          <p:nvPr/>
        </p:nvSpPr>
        <p:spPr>
          <a:xfrm>
            <a:off x="7132320" y="3223260"/>
            <a:ext cx="274320" cy="320040"/>
          </a:xfrm>
          <a:prstGeom prst="downArrow">
            <a:avLst/>
          </a:prstGeom>
          <a:solidFill>
            <a:srgbClr val="00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Rounded Rectangle 775"/>
          <p:cNvSpPr/>
          <p:nvPr/>
        </p:nvSpPr>
        <p:spPr>
          <a:xfrm>
            <a:off x="6126480" y="3703320"/>
            <a:ext cx="2286000" cy="594360"/>
          </a:xfrm>
          <a:prstGeom prst="roundRect">
            <a:avLst>
              <a:gd name="adj" fmla="val 18000"/>
            </a:avLst>
          </a:prstGeom>
          <a:solidFill>
            <a:srgbClr val="12102B"/>
          </a:solidFill>
          <a:ln w="15875">
            <a:solidFill>
              <a:srgbClr val="00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Raleway"/>
              </a:rPr>
              <a:t>CLASSICAL BIT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31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11</a:t>
            </a:r>
          </a:p>
        </p:txBody>
      </p:sp>
      <p:sp>
        <p:nvSpPr>
          <p:cNvPr id="793" name="Google Shape;793;p31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94" name="Google Shape;794;p31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95" name="Google Shape;795;p31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96" name="Google Shape;796;p31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7" name="TextBox 796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WHY MEASUREMENT MATTERS</a:t>
            </a:r>
          </a:p>
        </p:txBody>
      </p:sp>
      <p:sp>
        <p:nvSpPr>
          <p:cNvPr id="798" name="TextBox 797"/>
          <p:cNvSpPr txBox="1"/>
          <p:nvPr/>
        </p:nvSpPr>
        <p:spPr>
          <a:xfrm>
            <a:off x="868680" y="1234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READING RESULTS</a:t>
            </a:r>
          </a:p>
        </p:txBody>
      </p:sp>
      <p:sp>
        <p:nvSpPr>
          <p:cNvPr id="799" name="TextBox 798"/>
          <p:cNvSpPr txBox="1"/>
          <p:nvPr/>
        </p:nvSpPr>
        <p:spPr>
          <a:xfrm>
            <a:off x="868680" y="17099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Every quantum algorithm ends by reading out classical bits.</a:t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5029200" y="1234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STATE DISTURBANCE</a:t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5029200" y="17099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Measuring changes the state, so you cannot reuse it afterward.</a:t>
            </a:r>
          </a:p>
        </p:txBody>
      </p:sp>
      <p:sp>
        <p:nvSpPr>
          <p:cNvPr id="802" name="TextBox 801"/>
          <p:cNvSpPr txBox="1"/>
          <p:nvPr/>
        </p:nvSpPr>
        <p:spPr>
          <a:xfrm>
            <a:off x="868680" y="3063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SAMPLING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868680" y="35387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Repeated shots give the distribution of outcomes.</a:t>
            </a:r>
          </a:p>
        </p:txBody>
      </p:sp>
      <p:sp>
        <p:nvSpPr>
          <p:cNvPr id="804" name="TextBox 803"/>
          <p:cNvSpPr txBox="1"/>
          <p:nvPr/>
        </p:nvSpPr>
        <p:spPr>
          <a:xfrm>
            <a:off x="5029200" y="3063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MID-CIRCUIT</a:t>
            </a:r>
          </a:p>
        </p:txBody>
      </p:sp>
      <p:sp>
        <p:nvSpPr>
          <p:cNvPr id="805" name="TextBox 804"/>
          <p:cNvSpPr txBox="1"/>
          <p:nvPr/>
        </p:nvSpPr>
        <p:spPr>
          <a:xfrm>
            <a:off x="5029200" y="35387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Measurements can happen mid-circuit, and results can control later gates.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2"/>
          <p:cNvSpPr/>
          <p:nvPr/>
        </p:nvSpPr>
        <p:spPr>
          <a:xfrm rot="-5400000">
            <a:off x="689075" y="2313700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32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804" name="Google Shape;804;p32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805" name="Google Shape;805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6" name="Google Shape;806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07" name="Google Shape;807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8" name="Google Shape;808;p32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809" name="Google Shape;809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0" name="Google Shape;810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11" name="Google Shape;811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2" name="Google Shape;812;p32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813" name="Google Shape;813;p32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07</a:t>
            </a:r>
          </a:p>
        </p:txBody>
      </p:sp>
      <p:pic>
        <p:nvPicPr>
          <p:cNvPr id="814" name="Google Shape;81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32"/>
          <p:cNvSpPr txBox="1">
            <a:spLocks noGrp="1"/>
          </p:cNvSpPr>
          <p:nvPr>
            <p:ph type="title"/>
          </p:nvPr>
        </p:nvSpPr>
        <p:spPr>
          <a:xfrm>
            <a:off x="1136800" y="20082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32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817" name="Google Shape;817;p32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818" name="Google Shape;818;p32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819" name="Google Shape;819;p32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0" name="TextBox 819"/>
          <p:cNvSpPr txBox="1"/>
          <p:nvPr/>
        </p:nvSpPr>
        <p:spPr>
          <a:xfrm>
            <a:off x="960120" y="19659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Raleway"/>
              </a:rPr>
              <a:t>PROBABILITIES &amp; BASES</a:t>
            </a:r>
          </a:p>
        </p:txBody>
      </p:sp>
      <p:sp>
        <p:nvSpPr>
          <p:cNvPr id="821" name="TextBox 820"/>
          <p:cNvSpPr txBox="1"/>
          <p:nvPr/>
        </p:nvSpPr>
        <p:spPr>
          <a:xfrm>
            <a:off x="4224528" y="1920240"/>
            <a:ext cx="1143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Raleway"/>
              </a:rPr>
              <a:t>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3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08</a:t>
            </a:r>
          </a:p>
        </p:txBody>
      </p:sp>
      <p:sp>
        <p:nvSpPr>
          <p:cNvPr id="860" name="Google Shape;860;p33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861" name="Google Shape;861;p33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862" name="Google Shape;862;p33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863" name="Google Shape;863;p33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4" name="TextBox 863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THE BORN RULE</a:t>
            </a:r>
          </a:p>
        </p:txBody>
      </p:sp>
      <p:sp>
        <p:nvSpPr>
          <p:cNvPr id="865" name="TextBox 864"/>
          <p:cNvSpPr txBox="1"/>
          <p:nvPr/>
        </p:nvSpPr>
        <p:spPr>
          <a:xfrm>
            <a:off x="914400" y="118872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anken Grotesk"/>
              </a:rPr>
              <a:t>The chance of each outcome comes from the amplitudes of the state.</a:t>
            </a:r>
          </a:p>
        </p:txBody>
      </p:sp>
      <p:sp>
        <p:nvSpPr>
          <p:cNvPr id="866" name="TextBox 865"/>
          <p:cNvSpPr txBox="1"/>
          <p:nvPr/>
        </p:nvSpPr>
        <p:spPr>
          <a:xfrm>
            <a:off x="73152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AMPLITUDES</a:t>
            </a:r>
          </a:p>
        </p:txBody>
      </p:sp>
      <p:sp>
        <p:nvSpPr>
          <p:cNvPr id="867" name="TextBox 866"/>
          <p:cNvSpPr txBox="1"/>
          <p:nvPr/>
        </p:nvSpPr>
        <p:spPr>
          <a:xfrm>
            <a:off x="731520" y="2770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anken Grotesk"/>
              </a:rPr>
              <a:t>One per outcome</a:t>
            </a:r>
          </a:p>
        </p:txBody>
      </p:sp>
      <p:sp>
        <p:nvSpPr>
          <p:cNvPr id="868" name="TextBox 867"/>
          <p:cNvSpPr txBox="1"/>
          <p:nvPr/>
        </p:nvSpPr>
        <p:spPr>
          <a:xfrm>
            <a:off x="731520" y="3291839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A qubit state has an amplitude for 0 and an amplitude for 1.</a:t>
            </a:r>
          </a:p>
        </p:txBody>
      </p:sp>
      <p:sp>
        <p:nvSpPr>
          <p:cNvPr id="869" name="TextBox 868"/>
          <p:cNvSpPr txBox="1"/>
          <p:nvPr/>
        </p:nvSpPr>
        <p:spPr>
          <a:xfrm>
            <a:off x="338328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PROBABILITY</a:t>
            </a:r>
          </a:p>
        </p:txBody>
      </p:sp>
      <p:sp>
        <p:nvSpPr>
          <p:cNvPr id="870" name="TextBox 869"/>
          <p:cNvSpPr txBox="1"/>
          <p:nvPr/>
        </p:nvSpPr>
        <p:spPr>
          <a:xfrm>
            <a:off x="3383280" y="2770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anken Grotesk"/>
              </a:rPr>
              <a:t>Square the size</a:t>
            </a:r>
          </a:p>
        </p:txBody>
      </p:sp>
      <p:sp>
        <p:nvSpPr>
          <p:cNvPr id="871" name="TextBox 870"/>
          <p:cNvSpPr txBox="1"/>
          <p:nvPr/>
        </p:nvSpPr>
        <p:spPr>
          <a:xfrm>
            <a:off x="3383280" y="3291839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The chance of an outcome is the squared size of its amplitude.</a:t>
            </a:r>
          </a:p>
        </p:txBody>
      </p:sp>
      <p:sp>
        <p:nvSpPr>
          <p:cNvPr id="872" name="TextBox 871"/>
          <p:cNvSpPr txBox="1"/>
          <p:nvPr/>
        </p:nvSpPr>
        <p:spPr>
          <a:xfrm>
            <a:off x="603504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SHOTS</a:t>
            </a:r>
          </a:p>
        </p:txBody>
      </p:sp>
      <p:sp>
        <p:nvSpPr>
          <p:cNvPr id="873" name="TextBox 872"/>
          <p:cNvSpPr txBox="1"/>
          <p:nvPr/>
        </p:nvSpPr>
        <p:spPr>
          <a:xfrm>
            <a:off x="6035040" y="2770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anken Grotesk"/>
              </a:rPr>
              <a:t>Many repetitions</a:t>
            </a:r>
          </a:p>
        </p:txBody>
      </p:sp>
      <p:sp>
        <p:nvSpPr>
          <p:cNvPr id="874" name="TextBox 873"/>
          <p:cNvSpPr txBox="1"/>
          <p:nvPr/>
        </p:nvSpPr>
        <p:spPr>
          <a:xfrm>
            <a:off x="6035040" y="3291839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Repeat the circuit many times to estimate each probability.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5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35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35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915" name="Google Shape;915;p35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916" name="Google Shape;916;p35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7" name="Google Shape;917;p35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18" name="Google Shape;918;p35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9" name="Google Shape;919;p35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920" name="Google Shape;920;p35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1" name="Google Shape;921;p35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22" name="Google Shape;922;p35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3" name="Google Shape;923;p35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924" name="Google Shape;924;p35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12</a:t>
            </a:r>
          </a:p>
        </p:txBody>
      </p:sp>
      <p:pic>
        <p:nvPicPr>
          <p:cNvPr id="925" name="Google Shape;925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35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927" name="Google Shape;927;p35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928" name="Google Shape;928;p35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929" name="Google Shape;929;p35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0" name="TextBox 929"/>
          <p:cNvSpPr txBox="1"/>
          <p:nvPr/>
        </p:nvSpPr>
        <p:spPr>
          <a:xfrm>
            <a:off x="960120" y="19659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Raleway"/>
              </a:rPr>
              <a:t>IMPLEMENTATION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5120640" y="1920240"/>
            <a:ext cx="1143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Raleway"/>
              </a:rPr>
              <a:t>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978" name="Google Shape;978;p37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13</a:t>
            </a:r>
          </a:p>
        </p:txBody>
      </p:sp>
      <p:sp>
        <p:nvSpPr>
          <p:cNvPr id="979" name="Google Shape;979;p37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980" name="Google Shape;980;p37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981" name="Google Shape;981;p37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982" name="Google Shape;982;p37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3" name="TextBox 982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Raleway"/>
              </a:rPr>
              <a:t>BASIC QISKIT IMPLEMENTATION</a:t>
            </a:r>
          </a:p>
        </p:txBody>
      </p:sp>
      <p:sp>
        <p:nvSpPr>
          <p:cNvPr id="984" name="TextBox 983"/>
          <p:cNvSpPr txBox="1"/>
          <p:nvPr/>
        </p:nvSpPr>
        <p:spPr>
          <a:xfrm>
            <a:off x="731520" y="1051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EXAMPLE: SUPERPOSITION</a:t>
            </a:r>
          </a:p>
        </p:txBody>
      </p:sp>
      <p:sp>
        <p:nvSpPr>
          <p:cNvPr id="988" name="Rounded Rectangle 987"/>
          <p:cNvSpPr/>
          <p:nvPr/>
        </p:nvSpPr>
        <p:spPr>
          <a:xfrm>
            <a:off x="640080" y="1371600"/>
            <a:ext cx="6583680" cy="2651760"/>
          </a:xfrm>
          <a:prstGeom prst="roundRect">
            <a:avLst>
              <a:gd name="adj" fmla="val 3000"/>
            </a:avLst>
          </a:prstGeom>
          <a:solidFill>
            <a:srgbClr val="121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731520" y="1417320"/>
            <a:ext cx="649224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# 1. Prepare an equal superposition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qc = QuantumCircuit(1, 1)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qc.h(0)</a:t>
            </a:r>
          </a:p>
          <a:p>
            <a:pPr algn="l"/>
            <a:endParaRPr sz="1000"/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# 2. Measure the qubit into the classical bit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qc.measure(0, 0)</a:t>
            </a:r>
          </a:p>
          <a:p>
            <a:pPr algn="l"/>
            <a:endParaRPr sz="1000"/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# 3. Run many shots on a simulator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sim = AerSimulator()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result = sim.run(qc, shots=1024).result()</a:t>
            </a:r>
          </a:p>
          <a:p>
            <a:pPr algn="l"/>
            <a:endParaRPr sz="1000"/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# 4. Read the counts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print(result.get_counts())</a:t>
            </a:r>
          </a:p>
        </p:txBody>
      </p:sp>
      <p:sp>
        <p:nvSpPr>
          <p:cNvPr id="986" name="TextBox 985"/>
          <p:cNvSpPr txBox="1"/>
          <p:nvPr/>
        </p:nvSpPr>
        <p:spPr>
          <a:xfrm>
            <a:off x="7360920" y="155448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Expect about half 0 and half 1. Imports are omitted for space.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7360920" y="3291840"/>
            <a:ext cx="1600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CE6"/>
                </a:solidFill>
                <a:latin typeface="Raleway"/>
              </a:rPr>
              <a:t>1 Prepare</a:t>
            </a:r>
          </a:p>
          <a:p>
            <a:pPr algn="l"/>
            <a:r>
              <a:rPr sz="1200" b="1">
                <a:solidFill>
                  <a:srgbClr val="00DCE6"/>
                </a:solidFill>
                <a:latin typeface="Raleway"/>
              </a:rPr>
              <a:t>2 Measure</a:t>
            </a:r>
          </a:p>
          <a:p>
            <a:pPr algn="l"/>
            <a:r>
              <a:rPr sz="1200" b="1">
                <a:solidFill>
                  <a:srgbClr val="00DCE6"/>
                </a:solidFill>
                <a:latin typeface="Raleway"/>
              </a:rPr>
              <a:t>3 Run</a:t>
            </a:r>
          </a:p>
          <a:p>
            <a:pPr algn="l"/>
            <a:r>
              <a:rPr sz="1200" b="1">
                <a:solidFill>
                  <a:srgbClr val="00DCE6"/>
                </a:solidFill>
                <a:latin typeface="Raleway"/>
              </a:rPr>
              <a:t>4 Read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42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42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42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1214" name="Google Shape;1214;p42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1215" name="Google Shape;1215;p4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6" name="Google Shape;1216;p4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7" name="Google Shape;1217;p4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42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1219" name="Google Shape;1219;p4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0" name="Google Shape;1220;p4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21" name="Google Shape;1221;p4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2" name="Google Shape;1222;p42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1223" name="Google Shape;1223;p42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10</a:t>
            </a:r>
          </a:p>
        </p:txBody>
      </p:sp>
      <p:pic>
        <p:nvPicPr>
          <p:cNvPr id="1224" name="Google Shape;122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42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26" name="Google Shape;1226;p42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227" name="Google Shape;1227;p42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228" name="Google Shape;1228;p42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9" name="TextBox 1228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MEASURING IN QISKIT</a:t>
            </a:r>
          </a:p>
        </p:txBody>
      </p:sp>
      <p:sp>
        <p:nvSpPr>
          <p:cNvPr id="1230" name="TextBox 1229"/>
          <p:cNvSpPr txBox="1"/>
          <p:nvPr/>
        </p:nvSpPr>
        <p:spPr>
          <a:xfrm>
            <a:off x="914400" y="1234440"/>
            <a:ext cx="490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anken Grotesk"/>
              </a:rPr>
              <a:t>Add measurements to the circuit.</a:t>
            </a:r>
          </a:p>
        </p:txBody>
      </p:sp>
      <p:sp>
        <p:nvSpPr>
          <p:cNvPr id="1231" name="TextBox 1230"/>
          <p:cNvSpPr txBox="1"/>
          <p:nvPr/>
        </p:nvSpPr>
        <p:spPr>
          <a:xfrm>
            <a:off x="914400" y="2103120"/>
            <a:ext cx="4900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Results are written to classical bits.</a:t>
            </a:r>
          </a:p>
          <a:p>
            <a:pPr algn="l"/>
            <a:endParaRPr sz="1700"/>
          </a:p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Choose which qubits to measure, or measure them all.</a:t>
            </a:r>
          </a:p>
        </p:txBody>
      </p:sp>
      <p:sp>
        <p:nvSpPr>
          <p:cNvPr id="1232" name="TextBox 1231"/>
          <p:cNvSpPr txBox="1"/>
          <p:nvPr/>
        </p:nvSpPr>
        <p:spPr>
          <a:xfrm>
            <a:off x="6309360" y="1783080"/>
            <a:ext cx="240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MEASURE_ALL()</a:t>
            </a:r>
          </a:p>
        </p:txBody>
      </p:sp>
      <p:sp>
        <p:nvSpPr>
          <p:cNvPr id="1233" name="TextBox 1232"/>
          <p:cNvSpPr txBox="1"/>
          <p:nvPr/>
        </p:nvSpPr>
        <p:spPr>
          <a:xfrm>
            <a:off x="6309360" y="3200400"/>
            <a:ext cx="240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MEASURE()</a:t>
            </a:r>
          </a:p>
        </p:txBody>
      </p:sp>
      <p:sp>
        <p:nvSpPr>
          <p:cNvPr id="1234" name="TextBox 1233"/>
          <p:cNvSpPr txBox="1"/>
          <p:nvPr/>
        </p:nvSpPr>
        <p:spPr>
          <a:xfrm>
            <a:off x="6309360" y="3611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Measures chosen qubits into chosen classical bits.</a:t>
            </a:r>
          </a:p>
        </p:txBody>
      </p:sp>
      <p:sp>
        <p:nvSpPr>
          <p:cNvPr id="1235" name="Clone 1235"/>
          <p:cNvSpPr txBox="1"/>
          <p:nvPr/>
        </p:nvSpPr>
        <p:spPr>
          <a:xfrm>
            <a:off x="6309360" y="22402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Measures every qubit into a new register named meas.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259" name="Google Shape;1259;p43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09</a:t>
            </a:r>
          </a:p>
        </p:txBody>
      </p:sp>
      <p:sp>
        <p:nvSpPr>
          <p:cNvPr id="1260" name="Google Shape;1260;p43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61" name="Google Shape;1261;p43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262" name="Google Shape;1262;p43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263" name="Google Shape;1263;p43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4" name="TextBox 1263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MEASUREMENT BASES</a:t>
            </a:r>
          </a:p>
        </p:txBody>
      </p:sp>
      <p:sp>
        <p:nvSpPr>
          <p:cNvPr id="1265" name="TextBox 1264"/>
          <p:cNvSpPr txBox="1"/>
          <p:nvPr/>
        </p:nvSpPr>
        <p:spPr>
          <a:xfrm>
            <a:off x="914400" y="1234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Z BASIS</a:t>
            </a:r>
          </a:p>
        </p:txBody>
      </p:sp>
      <p:sp>
        <p:nvSpPr>
          <p:cNvPr id="1266" name="TextBox 1265"/>
          <p:cNvSpPr txBox="1"/>
          <p:nvPr/>
        </p:nvSpPr>
        <p:spPr>
          <a:xfrm>
            <a:off x="914400" y="17373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The default. Results are 0 or 1 along the Z axis.</a:t>
            </a:r>
          </a:p>
        </p:txBody>
      </p:sp>
      <p:sp>
        <p:nvSpPr>
          <p:cNvPr id="1267" name="TextBox 1266"/>
          <p:cNvSpPr txBox="1"/>
          <p:nvPr/>
        </p:nvSpPr>
        <p:spPr>
          <a:xfrm>
            <a:off x="4892040" y="1234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OTHER BASES</a:t>
            </a:r>
          </a:p>
        </p:txBody>
      </p:sp>
      <p:sp>
        <p:nvSpPr>
          <p:cNvPr id="1268" name="TextBox 1267"/>
          <p:cNvSpPr txBox="1"/>
          <p:nvPr/>
        </p:nvSpPr>
        <p:spPr>
          <a:xfrm>
            <a:off x="4892040" y="17373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To measure in X, add an H gate before the measurement.</a:t>
            </a:r>
          </a:p>
        </p:txBody>
      </p:sp>
      <p:sp>
        <p:nvSpPr>
          <p:cNvPr id="1269" name="TextBox 1268"/>
          <p:cNvSpPr txBox="1"/>
          <p:nvPr/>
        </p:nvSpPr>
        <p:spPr>
          <a:xfrm>
            <a:off x="9144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KEY POINT</a:t>
            </a:r>
          </a:p>
        </p:txBody>
      </p:sp>
      <p:sp>
        <p:nvSpPr>
          <p:cNvPr id="1270" name="TextBox 1269"/>
          <p:cNvSpPr txBox="1"/>
          <p:nvPr/>
        </p:nvSpPr>
        <p:spPr>
          <a:xfrm>
            <a:off x="914400" y="338328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Hanken Grotesk"/>
              </a:rPr>
              <a:t>Qiskit always measures in the Z basis. Other bases need a gate before the measurement.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278" name="Google Shape;1278;p44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79" name="Google Shape;1279;p44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280" name="Google Shape;1280;p44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281" name="Google Shape;1281;p44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2" name="TextBox 1281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HOW MEASUREMENT WORKS</a:t>
            </a:r>
          </a:p>
        </p:txBody>
      </p:sp>
      <p:sp>
        <p:nvSpPr>
          <p:cNvPr id="1283" name="TextBox 1282"/>
          <p:cNvSpPr txBox="1"/>
          <p:nvPr/>
        </p:nvSpPr>
        <p:spPr>
          <a:xfrm>
            <a:off x="73152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01</a:t>
            </a:r>
          </a:p>
        </p:txBody>
      </p:sp>
      <p:sp>
        <p:nvSpPr>
          <p:cNvPr id="1284" name="TextBox 1283"/>
          <p:cNvSpPr txBox="1"/>
          <p:nvPr/>
        </p:nvSpPr>
        <p:spPr>
          <a:xfrm>
            <a:off x="731520" y="18288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Prepare</a:t>
            </a:r>
          </a:p>
        </p:txBody>
      </p:sp>
      <p:sp>
        <p:nvSpPr>
          <p:cNvPr id="1285" name="TextBox 1284"/>
          <p:cNvSpPr txBox="1"/>
          <p:nvPr/>
        </p:nvSpPr>
        <p:spPr>
          <a:xfrm>
            <a:off x="731520" y="2377439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Put the qubit into a quantum state.</a:t>
            </a:r>
          </a:p>
        </p:txBody>
      </p:sp>
      <p:sp>
        <p:nvSpPr>
          <p:cNvPr id="1286" name="TextBox 1285"/>
          <p:cNvSpPr txBox="1"/>
          <p:nvPr/>
        </p:nvSpPr>
        <p:spPr>
          <a:xfrm>
            <a:off x="269748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02</a:t>
            </a:r>
          </a:p>
        </p:txBody>
      </p:sp>
      <p:sp>
        <p:nvSpPr>
          <p:cNvPr id="1287" name="TextBox 1286"/>
          <p:cNvSpPr txBox="1"/>
          <p:nvPr/>
        </p:nvSpPr>
        <p:spPr>
          <a:xfrm>
            <a:off x="2697480" y="18288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Measure</a:t>
            </a:r>
          </a:p>
        </p:txBody>
      </p:sp>
      <p:sp>
        <p:nvSpPr>
          <p:cNvPr id="1288" name="TextBox 1287"/>
          <p:cNvSpPr txBox="1"/>
          <p:nvPr/>
        </p:nvSpPr>
        <p:spPr>
          <a:xfrm>
            <a:off x="2697480" y="2377439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Measure it in the chosen basis.</a:t>
            </a:r>
          </a:p>
        </p:txBody>
      </p:sp>
      <p:sp>
        <p:nvSpPr>
          <p:cNvPr id="1289" name="TextBox 1288"/>
          <p:cNvSpPr txBox="1"/>
          <p:nvPr/>
        </p:nvSpPr>
        <p:spPr>
          <a:xfrm>
            <a:off x="466344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03</a:t>
            </a:r>
          </a:p>
        </p:txBody>
      </p:sp>
      <p:sp>
        <p:nvSpPr>
          <p:cNvPr id="1290" name="TextBox 1289"/>
          <p:cNvSpPr txBox="1"/>
          <p:nvPr/>
        </p:nvSpPr>
        <p:spPr>
          <a:xfrm>
            <a:off x="4663440" y="18288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Collapse</a:t>
            </a:r>
          </a:p>
        </p:txBody>
      </p:sp>
      <p:sp>
        <p:nvSpPr>
          <p:cNvPr id="1291" name="TextBox 1290"/>
          <p:cNvSpPr txBox="1"/>
          <p:nvPr/>
        </p:nvSpPr>
        <p:spPr>
          <a:xfrm>
            <a:off x="4663440" y="2377439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The state becomes the result you got.</a:t>
            </a:r>
          </a:p>
        </p:txBody>
      </p:sp>
      <p:sp>
        <p:nvSpPr>
          <p:cNvPr id="1292" name="TextBox 1291"/>
          <p:cNvSpPr txBox="1"/>
          <p:nvPr/>
        </p:nvSpPr>
        <p:spPr>
          <a:xfrm>
            <a:off x="662940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04</a:t>
            </a:r>
          </a:p>
        </p:txBody>
      </p:sp>
      <p:sp>
        <p:nvSpPr>
          <p:cNvPr id="1293" name="TextBox 1292"/>
          <p:cNvSpPr txBox="1"/>
          <p:nvPr/>
        </p:nvSpPr>
        <p:spPr>
          <a:xfrm>
            <a:off x="6629400" y="18288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Repeat</a:t>
            </a:r>
          </a:p>
        </p:txBody>
      </p:sp>
      <p:sp>
        <p:nvSpPr>
          <p:cNvPr id="1294" name="TextBox 1293"/>
          <p:cNvSpPr txBox="1"/>
          <p:nvPr/>
        </p:nvSpPr>
        <p:spPr>
          <a:xfrm>
            <a:off x="6629400" y="2377439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Run many shots to see the probabilities.</a:t>
            </a:r>
          </a:p>
        </p:txBody>
      </p:sp>
      <p:cxnSp>
        <p:nvCxnSpPr>
          <p:cNvPr id="1295" name="Connector 1294"/>
          <p:cNvCxnSpPr/>
          <p:nvPr/>
        </p:nvCxnSpPr>
        <p:spPr>
          <a:xfrm>
            <a:off x="1551520" y="1508760"/>
            <a:ext cx="1085960" cy="0"/>
          </a:xfrm>
          <a:prstGeom prst="line">
            <a:avLst/>
          </a:prstGeom>
          <a:ln w="15875">
            <a:solidFill>
              <a:srgbClr val="00DC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6" name="Connector 1295"/>
          <p:cNvCxnSpPr/>
          <p:nvPr/>
        </p:nvCxnSpPr>
        <p:spPr>
          <a:xfrm>
            <a:off x="3517480" y="1508760"/>
            <a:ext cx="1085960" cy="0"/>
          </a:xfrm>
          <a:prstGeom prst="line">
            <a:avLst/>
          </a:prstGeom>
          <a:ln w="15875">
            <a:solidFill>
              <a:srgbClr val="00DC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7" name="Connector 1296"/>
          <p:cNvCxnSpPr/>
          <p:nvPr/>
        </p:nvCxnSpPr>
        <p:spPr>
          <a:xfrm>
            <a:off x="5483440" y="1508760"/>
            <a:ext cx="1085960" cy="0"/>
          </a:xfrm>
          <a:prstGeom prst="line">
            <a:avLst/>
          </a:prstGeom>
          <a:ln w="15875">
            <a:solidFill>
              <a:srgbClr val="00DC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8" name="Clone 1298"/>
          <p:cNvSpPr txBox="1"/>
          <p:nvPr/>
        </p:nvSpPr>
        <p:spPr>
          <a:xfrm>
            <a:off x="731520" y="3840480"/>
            <a:ext cx="7680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One measurement gives one result. Many shots reveal the probabilities.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7" name="Google Shape;1287;p4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88" name="Google Shape;1288;p45"/>
          <p:cNvSpPr/>
          <p:nvPr/>
        </p:nvSpPr>
        <p:spPr>
          <a:xfrm rot="5400000">
            <a:off x="5960295" y="4190447"/>
            <a:ext cx="2997102" cy="353913"/>
          </a:xfrm>
          <a:custGeom>
            <a:avLst/>
            <a:gdLst/>
            <a:ahLst/>
            <a:cxnLst/>
            <a:rect l="l" t="t" r="r" b="b"/>
            <a:pathLst>
              <a:path w="258873" h="30569" extrusionOk="0">
                <a:moveTo>
                  <a:pt x="0" y="0"/>
                </a:moveTo>
                <a:lnTo>
                  <a:pt x="76910" y="0"/>
                </a:lnTo>
                <a:lnTo>
                  <a:pt x="107480" y="30569"/>
                </a:lnTo>
                <a:lnTo>
                  <a:pt x="167406" y="30569"/>
                </a:lnTo>
                <a:lnTo>
                  <a:pt x="176418" y="14960"/>
                </a:lnTo>
                <a:lnTo>
                  <a:pt x="258873" y="14960"/>
                </a:lnTo>
                <a:lnTo>
                  <a:pt x="258873" y="1091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1289" name="Google Shape;1289;p45"/>
          <p:cNvGrpSpPr/>
          <p:nvPr/>
        </p:nvGrpSpPr>
        <p:grpSpPr>
          <a:xfrm>
            <a:off x="5923458" y="1569341"/>
            <a:ext cx="3360485" cy="1171564"/>
            <a:chOff x="5923458" y="2066691"/>
            <a:chExt cx="3360485" cy="1171564"/>
          </a:xfrm>
        </p:grpSpPr>
        <p:grpSp>
          <p:nvGrpSpPr>
            <p:cNvPr id="1290" name="Google Shape;1290;p45"/>
            <p:cNvGrpSpPr/>
            <p:nvPr/>
          </p:nvGrpSpPr>
          <p:grpSpPr>
            <a:xfrm rot="-5400000">
              <a:off x="7132284" y="1086595"/>
              <a:ext cx="942834" cy="3360485"/>
              <a:chOff x="6777434" y="2296620"/>
              <a:chExt cx="942834" cy="3360485"/>
            </a:xfrm>
          </p:grpSpPr>
          <p:grpSp>
            <p:nvGrpSpPr>
              <p:cNvPr id="1291" name="Google Shape;1291;p45"/>
              <p:cNvGrpSpPr/>
              <p:nvPr/>
            </p:nvGrpSpPr>
            <p:grpSpPr>
              <a:xfrm rot="10800000">
                <a:off x="6777434" y="2296620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1292" name="Google Shape;1292;p45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3" name="Google Shape;1293;p45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294" name="Google Shape;1294;p45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95" name="Google Shape;1295;p45"/>
              <p:cNvSpPr/>
              <p:nvPr/>
            </p:nvSpPr>
            <p:spPr>
              <a:xfrm>
                <a:off x="7680212" y="3999936"/>
                <a:ext cx="40056" cy="440880"/>
              </a:xfrm>
              <a:custGeom>
                <a:avLst/>
                <a:gdLst/>
                <a:ahLst/>
                <a:cxnLst/>
                <a:rect l="l" t="t" r="r" b="b"/>
                <a:pathLst>
                  <a:path w="1146" h="12620" extrusionOk="0">
                    <a:moveTo>
                      <a:pt x="573" y="1"/>
                    </a:moveTo>
                    <a:cubicBezTo>
                      <a:pt x="240" y="1"/>
                      <a:pt x="1" y="240"/>
                      <a:pt x="1" y="573"/>
                    </a:cubicBezTo>
                    <a:lnTo>
                      <a:pt x="1" y="12046"/>
                    </a:lnTo>
                    <a:cubicBezTo>
                      <a:pt x="1" y="12351"/>
                      <a:pt x="240" y="12619"/>
                      <a:pt x="573" y="12619"/>
                    </a:cubicBezTo>
                    <a:cubicBezTo>
                      <a:pt x="878" y="12619"/>
                      <a:pt x="1146" y="12351"/>
                      <a:pt x="1146" y="12046"/>
                    </a:cubicBezTo>
                    <a:lnTo>
                      <a:pt x="1146" y="573"/>
                    </a:lnTo>
                    <a:cubicBezTo>
                      <a:pt x="1146" y="240"/>
                      <a:pt x="878" y="1"/>
                      <a:pt x="57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45"/>
              <p:cNvSpPr/>
              <p:nvPr/>
            </p:nvSpPr>
            <p:spPr>
              <a:xfrm rot="10800000">
                <a:off x="7160463" y="4347766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45"/>
              <p:cNvSpPr/>
              <p:nvPr/>
            </p:nvSpPr>
            <p:spPr>
              <a:xfrm rot="10800000">
                <a:off x="6933883" y="3613321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8" name="Google Shape;1298;p45"/>
            <p:cNvGrpSpPr/>
            <p:nvPr/>
          </p:nvGrpSpPr>
          <p:grpSpPr>
            <a:xfrm rot="5400000">
              <a:off x="7005414" y="2134696"/>
              <a:ext cx="493321" cy="357312"/>
              <a:chOff x="1722354" y="229144"/>
              <a:chExt cx="1748744" cy="1266614"/>
            </a:xfrm>
          </p:grpSpPr>
          <p:sp>
            <p:nvSpPr>
              <p:cNvPr id="1299" name="Google Shape;1299;p4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4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01" name="Google Shape;1301;p45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14</a:t>
            </a:r>
          </a:p>
        </p:txBody>
      </p:sp>
      <p:sp>
        <p:nvSpPr>
          <p:cNvPr id="1302" name="Google Shape;1302;p45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303" name="Google Shape;1303;p45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304" name="Google Shape;1304;p45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305" name="Google Shape;1305;p45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6" name="TextBox 1305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RESOURCES</a:t>
            </a:r>
          </a:p>
        </p:txBody>
      </p:sp>
      <p:sp>
        <p:nvSpPr>
          <p:cNvPr id="1307" name="TextBox 1306"/>
          <p:cNvSpPr txBox="1"/>
          <p:nvPr/>
        </p:nvSpPr>
        <p:spPr>
          <a:xfrm>
            <a:off x="914400" y="123444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IBM QUANTUM LEARNING</a:t>
            </a:r>
          </a:p>
        </p:txBody>
      </p:sp>
      <p:sp>
        <p:nvSpPr>
          <p:cNvPr id="1308" name="TextBox 1307"/>
          <p:cNvSpPr txBox="1"/>
          <p:nvPr/>
        </p:nvSpPr>
        <p:spPr>
          <a:xfrm>
            <a:off x="914400" y="164592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Basics of quantum information and measurement.</a:t>
            </a:r>
          </a:p>
        </p:txBody>
      </p:sp>
      <p:sp>
        <p:nvSpPr>
          <p:cNvPr id="1309" name="TextBox 1308"/>
          <p:cNvSpPr txBox="1"/>
          <p:nvPr/>
        </p:nvSpPr>
        <p:spPr>
          <a:xfrm>
            <a:off x="914400" y="242316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QISKIT DOCUMENTATION</a:t>
            </a:r>
          </a:p>
        </p:txBody>
      </p:sp>
      <p:sp>
        <p:nvSpPr>
          <p:cNvPr id="1310" name="TextBox 1309"/>
          <p:cNvSpPr txBox="1"/>
          <p:nvPr/>
        </p:nvSpPr>
        <p:spPr>
          <a:xfrm>
            <a:off x="914400" y="283464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QuantumCircuit measure() and measure_all() reference.</a:t>
            </a:r>
          </a:p>
        </p:txBody>
      </p:sp>
      <p:sp>
        <p:nvSpPr>
          <p:cNvPr id="1311" name="TextBox 1310"/>
          <p:cNvSpPr txBox="1"/>
          <p:nvPr/>
        </p:nvSpPr>
        <p:spPr>
          <a:xfrm>
            <a:off x="914400" y="361188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KEY TAKEAWAY</a:t>
            </a:r>
          </a:p>
        </p:txBody>
      </p:sp>
      <p:sp>
        <p:nvSpPr>
          <p:cNvPr id="1312" name="TextBox 1311"/>
          <p:cNvSpPr txBox="1"/>
          <p:nvPr/>
        </p:nvSpPr>
        <p:spPr>
          <a:xfrm>
            <a:off x="914400" y="402336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Measurement turns a quantum state into classical bits.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46"/>
          <p:cNvSpPr txBox="1">
            <a:spLocks noGrp="1"/>
          </p:cNvSpPr>
          <p:nvPr>
            <p:ph type="title"/>
          </p:nvPr>
        </p:nvSpPr>
        <p:spPr>
          <a:xfrm>
            <a:off x="873347" y="1119275"/>
            <a:ext cx="5495400" cy="1199100"/>
          </a:xfrm>
          <a:prstGeom prst="rect">
            <a:avLst/>
          </a:prstGeom>
        </p:spPr>
        <p:txBody>
          <a:bodyPr spcFirstLastPara="1" wrap="square" lIns="112950" tIns="112950" rIns="112950" bIns="112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4200">
                <a:solidFill>
                  <a:srgbClr val="FFFFFF"/>
                </a:solidFill>
                <a:latin typeface="Raleway"/>
              </a:rPr>
              <a:t>THANKS!</a:t>
            </a:r>
            <a:endParaRPr sz="4201"/>
          </a:p>
        </p:txBody>
      </p:sp>
      <p:sp>
        <p:nvSpPr>
          <p:cNvPr id="1311" name="Google Shape;1311;p46"/>
          <p:cNvSpPr/>
          <p:nvPr/>
        </p:nvSpPr>
        <p:spPr>
          <a:xfrm rot="-5400000">
            <a:off x="367551" y="1527878"/>
            <a:ext cx="441426" cy="381778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12950" tIns="112950" rIns="112950" bIns="112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2" name="Google Shape;1312;p46"/>
          <p:cNvGrpSpPr/>
          <p:nvPr/>
        </p:nvGrpSpPr>
        <p:grpSpPr>
          <a:xfrm>
            <a:off x="2300981" y="-283244"/>
            <a:ext cx="5859225" cy="1631012"/>
            <a:chOff x="2389175" y="-353800"/>
            <a:chExt cx="5859225" cy="1631012"/>
          </a:xfrm>
        </p:grpSpPr>
        <p:sp>
          <p:nvSpPr>
            <p:cNvPr id="1313" name="Google Shape;1313;p46"/>
            <p:cNvSpPr/>
            <p:nvPr/>
          </p:nvSpPr>
          <p:spPr>
            <a:xfrm>
              <a:off x="2389175" y="-353800"/>
              <a:ext cx="5859225" cy="1137700"/>
            </a:xfrm>
            <a:custGeom>
              <a:avLst/>
              <a:gdLst/>
              <a:ahLst/>
              <a:cxnLst/>
              <a:rect l="l" t="t" r="r" b="b"/>
              <a:pathLst>
                <a:path w="234369" h="45508" extrusionOk="0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314" name="Google Shape;1314;p46"/>
            <p:cNvGrpSpPr/>
            <p:nvPr/>
          </p:nvGrpSpPr>
          <p:grpSpPr>
            <a:xfrm rot="-5400000">
              <a:off x="5834789" y="851896"/>
              <a:ext cx="493321" cy="357312"/>
              <a:chOff x="1722354" y="229144"/>
              <a:chExt cx="1748744" cy="1266614"/>
            </a:xfrm>
          </p:grpSpPr>
          <p:sp>
            <p:nvSpPr>
              <p:cNvPr id="1315" name="Google Shape;1315;p4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4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317" name="Google Shape;131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692953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46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15</a:t>
            </a:r>
          </a:p>
        </p:txBody>
      </p:sp>
      <p:pic>
        <p:nvPicPr>
          <p:cNvPr id="1319" name="Google Shape;131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712" y="4344823"/>
            <a:ext cx="700544" cy="24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0" name="Google Shape;1320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9565" y="4350592"/>
            <a:ext cx="571451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46"/>
          <p:cNvSpPr txBox="1">
            <a:spLocks noGrp="1"/>
          </p:cNvSpPr>
          <p:nvPr>
            <p:ph type="title"/>
          </p:nvPr>
        </p:nvSpPr>
        <p:spPr>
          <a:xfrm>
            <a:off x="3131275" y="2162550"/>
            <a:ext cx="4691400" cy="131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rgbClr val="FFFFFF"/>
                </a:solidFill>
                <a:latin typeface="Raleway"/>
              </a:rPr>
              <a:t>DO YOU HAVE ANY QUESTIONS?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22" name="Google Shape;1322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0593" y="4350580"/>
            <a:ext cx="835617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9565" y="4350592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0593" y="4350580"/>
            <a:ext cx="835617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46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326" name="Google Shape;1326;p46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327" name="Google Shape;1327;p46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1328" name="Google Shape;1328;p46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9" name="TextBox 1328"/>
          <p:cNvSpPr txBox="1"/>
          <p:nvPr/>
        </p:nvSpPr>
        <p:spPr>
          <a:xfrm>
            <a:off x="2606040" y="3520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Saad Ejaz  •  Guest Speaker</a:t>
            </a:r>
          </a:p>
        </p:txBody>
      </p:sp>
      <p:sp>
        <p:nvSpPr>
          <p:cNvPr id="1330" name="TextBox 1329"/>
          <p:cNvSpPr txBox="1"/>
          <p:nvPr/>
        </p:nvSpPr>
        <p:spPr>
          <a:xfrm>
            <a:off x="2788920" y="3977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IBM Quantum School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1131</Words>
  <Application>Microsoft Office PowerPoint</Application>
  <PresentationFormat>On-screen Show (16:9)</PresentationFormat>
  <Paragraphs>229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IBM Plex Sans</vt:lpstr>
      <vt:lpstr>Raleway Black</vt:lpstr>
      <vt:lpstr>Hanken Grotesk Light</vt:lpstr>
      <vt:lpstr>Anaheim</vt:lpstr>
      <vt:lpstr>Calibri</vt:lpstr>
      <vt:lpstr>Hanken Grotesk</vt:lpstr>
      <vt:lpstr>Arial</vt:lpstr>
      <vt:lpstr>Raleway</vt:lpstr>
      <vt:lpstr>Raleway ExtraBold</vt:lpstr>
      <vt:lpstr>Nunito Light</vt:lpstr>
      <vt:lpstr>Technology Market Research Pitch Deck by Slidesgo</vt:lpstr>
      <vt:lpstr>Foundations — Qubits, Gates &amp; Superposition </vt:lpstr>
      <vt:lpstr>01</vt:lpstr>
      <vt:lpstr>06</vt:lpstr>
      <vt:lpstr>03</vt:lpstr>
      <vt:lpstr>04</vt:lpstr>
      <vt:lpstr>05</vt:lpstr>
      <vt:lpstr>06</vt:lpstr>
      <vt:lpstr>07</vt:lpstr>
      <vt:lpstr>08</vt:lpstr>
      <vt:lpstr>09</vt:lpstr>
      <vt:lpstr>10</vt:lpstr>
      <vt:lpstr>Q4</vt:lpstr>
      <vt:lpstr>12</vt:lpstr>
      <vt:lpstr>13</vt:lpstr>
      <vt:lpstr>14</vt:lpstr>
      <vt:lpstr>15</vt:lpstr>
      <vt:lpstr>16</vt:lpstr>
      <vt:lpstr>17</vt:lpstr>
      <vt:lpstr>18</vt:lpstr>
      <vt:lpstr>19</vt:lpstr>
      <vt:lpstr>20</vt:lpstr>
      <vt:lpstr>21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Fatima Shahzadi</cp:lastModifiedBy>
  <cp:revision>2</cp:revision>
  <dcterms:modified xsi:type="dcterms:W3CDTF">2026-08-24T14:30:15Z</dcterms:modified>
</cp:coreProperties>
</file>