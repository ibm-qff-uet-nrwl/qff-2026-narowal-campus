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21"/>
    <p:sldId id="263" r:id="rId9"/>
    <p:sldId id="264" r:id="rId10"/>
    <p:sldId id="274" r:id="rId20"/>
    <p:sldId id="273" r:id="rId19"/>
    <p:sldId id="262" r:id="rId8"/>
    <p:sldId id="266" r:id="rId12"/>
    <p:sldId id="268" r:id="rId14"/>
    <p:sldId id="276" r:id="rId22"/>
    <p:sldId id="277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Hanken Grotesk" panose="020B0604020202020204" charset="0"/>
      <p:regular r:id="rId27"/>
      <p:bold r:id="rId28"/>
      <p:italic r:id="rId29"/>
      <p:boldItalic r:id="rId30"/>
    </p:embeddedFont>
    <p:embeddedFont>
      <p:font typeface="IBM Plex Sans" panose="020B0503050203000203" pitchFamily="34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</p:embeddedFont>
    <p:embeddedFont>
      <p:font typeface="Raleway" pitchFamily="2" charset="0"/>
      <p:regular r:id="rId36"/>
      <p:bold r:id="rId37"/>
      <p:italic r:id="rId38"/>
      <p:boldItalic r:id="rId39"/>
    </p:embeddedFont>
    <p:embeddedFont>
      <p:font typeface="Raleway Black" pitchFamily="2" charset="0"/>
      <p:bold r:id="rId40"/>
      <p:boldItalic r:id="rId41"/>
    </p:embeddedFont>
    <p:embeddedFont>
      <p:font typeface="Raleway ExtraBold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01A04D-C638-4EFC-8514-7DB338901487}">
  <a:tblStyle styleId="{6001A04D-C638-4EFC-8514-7DB3389014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facb4c069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facb4c069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acb4c0697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acb4c0697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facb4c069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facb4c069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acb4c069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facb4c069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google.com/spreadsheets/d/1kzDdCUJhF5jRAMppPV42AWyWWGjeS6UnPmm8dyOKRBM/copy" TargetMode="External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freepik.com/free-vector/artificial-intelligence-concept-twitter-header_42089917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artificial-intelligence-concept-youtube-thumbnail_42089932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woman-wearing-virtual-reality-simulator_13327676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medium-shot-woman-holding-smartphone_23494060.htm/?utm_source=slidesgo_template&amp;utm_medium=referral-link&amp;utm_campaign=sg_resources&amp;utm_content=freepik" TargetMode="External"/><Relationship Id="rId7" Type="http://schemas.openxmlformats.org/officeDocument/2006/relationships/hyperlink" Target="https://www.flaticon.com/packs/innovation-11?word=tech/?utm_source=slidesgo_template&amp;utm_medium=referral-link&amp;utm_campaign=sg_resources&amp;utm_content=flaticon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"/>
          <p:cNvSpPr txBox="1">
            <a:spLocks noGrp="1"/>
          </p:cNvSpPr>
          <p:nvPr>
            <p:ph type="ctrTitle"/>
          </p:nvPr>
        </p:nvSpPr>
        <p:spPr>
          <a:xfrm>
            <a:off x="924150" y="1968579"/>
            <a:ext cx="43848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5"/>
          <p:cNvSpPr/>
          <p:nvPr/>
        </p:nvSpPr>
        <p:spPr>
          <a:xfrm rot="-5400000">
            <a:off x="419500" y="2161619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25"/>
          <p:cNvGrpSpPr/>
          <p:nvPr/>
        </p:nvGrpSpPr>
        <p:grpSpPr>
          <a:xfrm rot="10800000" flipH="1">
            <a:off x="-1034983" y="213757"/>
            <a:ext cx="4791669" cy="923822"/>
            <a:chOff x="-78438" y="3775205"/>
            <a:chExt cx="4791669" cy="923822"/>
          </a:xfrm>
        </p:grpSpPr>
        <p:cxnSp>
          <p:nvCxnSpPr>
            <p:cNvPr id="659" name="Google Shape;659;p25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25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1" name="Google Shape;661;p25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" name="Google Shape;662;p2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3" name="Google Shape;663;p2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64" name="Google Shape;664;p2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65" name="Google Shape;665;p2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6" name="Google Shape;6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36" y="615433"/>
            <a:ext cx="695225" cy="6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944" y="2671471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5"/>
          <p:cNvSpPr txBox="1">
            <a:spLocks noGrp="1"/>
          </p:cNvSpPr>
          <p:nvPr>
            <p:ph type="ctrTitle"/>
          </p:nvPr>
        </p:nvSpPr>
        <p:spPr>
          <a:xfrm>
            <a:off x="987654" y="3202812"/>
            <a:ext cx="4384800" cy="92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868680" y="155448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Raleway"/>
              </a:rPr>
              <a:t>Sampler Primitive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96112" y="22000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From Circuits to Bitstrings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914400" y="3154680"/>
            <a:ext cx="42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914400" y="3611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"/>
          <p:cNvSpPr txBox="1">
            <a:spLocks noGrp="1"/>
          </p:cNvSpPr>
          <p:nvPr>
            <p:ph type="title"/>
          </p:nvPr>
        </p:nvSpPr>
        <p:spPr>
          <a:xfrm>
            <a:off x="720000" y="99938"/>
            <a:ext cx="7704000" cy="12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3000" dirty="0"/>
          </a:p>
        </p:txBody>
      </p:sp>
      <p:pic>
        <p:nvPicPr>
          <p:cNvPr id="682" name="Google Shape;68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  <p:sp>
        <p:nvSpPr>
          <p:cNvPr id="684" name="Google Shape;684;p26"/>
          <p:cNvSpPr txBox="1"/>
          <p:nvPr/>
        </p:nvSpPr>
        <p:spPr>
          <a:xfrm>
            <a:off x="934263" y="1441975"/>
            <a:ext cx="3000000" cy="225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</a:pPr>
            <a:endParaRPr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86" name="Google Shape;686;p2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87" name="Google Shape;687;p2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88" name="Google Shape;688;p2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TextBox 68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SPEAKER INTRODUCTION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91440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Hanken Grotesk"/>
              </a:rPr>
              <a:t>Saad Ejaz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9144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Guest Speaker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914400" y="26060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Computer Engineering student and IBM Quantum School tutor, introducing the Sampler primitive and how it turns quantum circuits into measured results.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914400" y="3950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"/>
          <p:cNvSpPr txBox="1">
            <a:spLocks noGrp="1"/>
          </p:cNvSpPr>
          <p:nvPr>
            <p:ph type="subTitle" idx="8"/>
          </p:nvPr>
        </p:nvSpPr>
        <p:spPr>
          <a:xfrm>
            <a:off x="4010952" y="1769025"/>
            <a:ext cx="35973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7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7"/>
          <p:cNvSpPr txBox="1">
            <a:spLocks noGrp="1"/>
          </p:cNvSpPr>
          <p:nvPr>
            <p:ph type="subTitle" idx="9"/>
          </p:nvPr>
        </p:nvSpPr>
        <p:spPr>
          <a:xfrm>
            <a:off x="4010952" y="2336725"/>
            <a:ext cx="33855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703" name="Google Shape;703;p27"/>
          <p:cNvSpPr txBox="1">
            <a:spLocks noGrp="1"/>
          </p:cNvSpPr>
          <p:nvPr>
            <p:ph type="subTitle" idx="13"/>
          </p:nvPr>
        </p:nvSpPr>
        <p:spPr>
          <a:xfrm>
            <a:off x="4010950" y="2904425"/>
            <a:ext cx="37209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7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7"/>
          <p:cNvSpPr txBox="1">
            <a:spLocks noGrp="1"/>
          </p:cNvSpPr>
          <p:nvPr>
            <p:ph type="subTitle" idx="15"/>
          </p:nvPr>
        </p:nvSpPr>
        <p:spPr>
          <a:xfrm>
            <a:off x="4010949" y="4039825"/>
            <a:ext cx="4938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6" name="Google Shape;706;p27"/>
          <p:cNvGrpSpPr/>
          <p:nvPr/>
        </p:nvGrpSpPr>
        <p:grpSpPr>
          <a:xfrm>
            <a:off x="1339397" y="1762071"/>
            <a:ext cx="983645" cy="2854839"/>
            <a:chOff x="472500" y="1762000"/>
            <a:chExt cx="1193310" cy="3463350"/>
          </a:xfrm>
        </p:grpSpPr>
        <p:grpSp>
          <p:nvGrpSpPr>
            <p:cNvPr id="707" name="Google Shape;707;p27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08" name="Google Shape;708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78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54"/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7850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78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/>
          </p:txBody>
        </p:sp>
      </p:grpSp>
      <p:sp>
        <p:nvSpPr>
          <p:cNvPr id="711" name="Google Shape;711;p27"/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02</a:t>
            </a:r>
          </a:p>
        </p:txBody>
      </p:sp>
      <p:sp>
        <p:nvSpPr>
          <p:cNvPr id="712" name="Google Shape;712;p2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13" name="Google Shape;713;p2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14" name="Google Shape;714;p2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15" name="Google Shape;715;p2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TextBox 71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TABLE OF CONTENTS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96012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01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691640" y="1097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What Is a Primitive?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960120" y="164591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02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1691640" y="16459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The Sampler Workflow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96012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03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1691640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Inputs: The PUB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960120" y="2743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04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169164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Outputs: Bitstrings &amp; Counts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960120" y="3291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05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1691640" y="32918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Basic Qiskit Implementation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960120" y="3840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06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6916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Takeaways &amp;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8"/>
          <p:cNvSpPr txBox="1">
            <a:spLocks noGrp="1"/>
          </p:cNvSpPr>
          <p:nvPr>
            <p:ph type="title"/>
          </p:nvPr>
        </p:nvSpPr>
        <p:spPr>
          <a:xfrm>
            <a:off x="1782650" y="10522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QISKIT FALL FEST?</a:t>
            </a:r>
            <a:endParaRPr dirty="0"/>
          </a:p>
        </p:txBody>
      </p:sp>
      <p:sp>
        <p:nvSpPr>
          <p:cNvPr id="721" name="Google Shape;721;p28"/>
          <p:cNvSpPr txBox="1">
            <a:spLocks noGrp="1"/>
          </p:cNvSpPr>
          <p:nvPr>
            <p:ph type="subTitle" idx="1"/>
          </p:nvPr>
        </p:nvSpPr>
        <p:spPr>
          <a:xfrm>
            <a:off x="956931" y="1818167"/>
            <a:ext cx="4876950" cy="2613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Hanken Grotesk"/>
              </a:rPr>
              <a:t>A beginner-friendly session on the Sampler primitive: how to run a circuit and read back the bitstrings it measures.</a:t>
            </a:r>
          </a:p>
        </p:txBody>
      </p:sp>
      <p:pic>
        <p:nvPicPr>
          <p:cNvPr id="722" name="Google Shape;722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06" t="12450" r="2006"/>
          <a:stretch/>
        </p:blipFill>
        <p:spPr>
          <a:xfrm>
            <a:off x="5967850" y="645314"/>
            <a:ext cx="2787000" cy="3558374"/>
          </a:xfrm>
          <a:prstGeom prst="rect">
            <a:avLst/>
          </a:prstGeom>
        </p:spPr>
      </p:pic>
      <p:sp>
        <p:nvSpPr>
          <p:cNvPr id="723" name="Google Shape;723;p28"/>
          <p:cNvSpPr/>
          <p:nvPr/>
        </p:nvSpPr>
        <p:spPr>
          <a:xfrm>
            <a:off x="4752038" y="4203688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8"/>
          <p:cNvSpPr/>
          <p:nvPr/>
        </p:nvSpPr>
        <p:spPr>
          <a:xfrm rot="-5400000">
            <a:off x="1493785" y="751340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8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03</a:t>
            </a:r>
          </a:p>
        </p:txBody>
      </p:sp>
      <p:sp>
        <p:nvSpPr>
          <p:cNvPr id="726" name="Google Shape;726;p2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7" name="Google Shape;727;p2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8" name="Google Shape;728;p28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29" name="Google Shape;729;p2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9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9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9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738" name="Google Shape;738;p29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39" name="Google Shape;739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1" name="Google Shape;741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9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3" name="Google Shape;743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5" name="Google Shape;745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29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747" name="Google Shape;747;p29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04</a:t>
            </a:r>
          </a:p>
        </p:txBody>
      </p:sp>
      <p:pic>
        <p:nvPicPr>
          <p:cNvPr id="748" name="Google Shape;74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50" name="Google Shape;750;p2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51" name="Google Shape;751;p29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52" name="Google Shape;752;p2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TextBox 752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INTRODUCTION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0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05</a:t>
            </a:r>
          </a:p>
        </p:txBody>
      </p:sp>
      <p:sp>
        <p:nvSpPr>
          <p:cNvPr id="765" name="Google Shape;765;p3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66" name="Google Shape;766;p3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67" name="Google Shape;767;p30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68" name="Google Shape;768;p3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TextBox 76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WHAT IS A PRIMITIVE?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14400" y="123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anken Grotesk"/>
              </a:rPr>
              <a:t>A primitive is the standard way to run circuits.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914400" y="210312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Qiskit Runtime offers two primitives. Each one takes circuits, runs them, and returns results in a consistent format.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The Sampler returns the bitstrings your circuit measured.</a:t>
            </a:r>
          </a:p>
        </p:txBody>
      </p:sp>
      <p:sp>
        <p:nvSpPr>
          <p:cNvPr id="772" name="Rounded Rectangle 771"/>
          <p:cNvSpPr/>
          <p:nvPr/>
        </p:nvSpPr>
        <p:spPr>
          <a:xfrm>
            <a:off x="6126480" y="123444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CIRCUIT + SHOTS</a:t>
            </a:r>
          </a:p>
        </p:txBody>
      </p:sp>
      <p:sp>
        <p:nvSpPr>
          <p:cNvPr id="773" name="Down Arrow 772"/>
          <p:cNvSpPr/>
          <p:nvPr/>
        </p:nvSpPr>
        <p:spPr>
          <a:xfrm>
            <a:off x="7132320" y="198882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ounded Rectangle 773"/>
          <p:cNvSpPr/>
          <p:nvPr/>
        </p:nvSpPr>
        <p:spPr>
          <a:xfrm>
            <a:off x="6126480" y="246888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00DCE6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A1A"/>
                </a:solidFill>
                <a:latin typeface="Raleway"/>
              </a:rPr>
              <a:t>SAMPLER</a:t>
            </a:r>
          </a:p>
        </p:txBody>
      </p:sp>
      <p:sp>
        <p:nvSpPr>
          <p:cNvPr id="775" name="Down Arrow 774"/>
          <p:cNvSpPr/>
          <p:nvPr/>
        </p:nvSpPr>
        <p:spPr>
          <a:xfrm>
            <a:off x="7132320" y="322326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ounded Rectangle 775"/>
          <p:cNvSpPr/>
          <p:nvPr/>
        </p:nvSpPr>
        <p:spPr>
          <a:xfrm>
            <a:off x="6126480" y="370332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BITSTRINGS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1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11</a:t>
            </a:r>
          </a:p>
        </p:txBody>
      </p:sp>
      <p:sp>
        <p:nvSpPr>
          <p:cNvPr id="793" name="Google Shape;793;p3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94" name="Google Shape;794;p3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95" name="Google Shape;795;p31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96" name="Google Shape;796;p3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7" name="TextBox 796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WHEN TO USE THE SAMPLER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86868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OUTPUT DISTRIBUTIONS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86868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See how likely each measurement outcome is.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02920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SEARCH PROBLEMS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502920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Algorithms like Grover search read their answer from measured bitstrings.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86868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PARAMETER SWEEPS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86868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Run many parameter settings in a single job.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02920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CLASSICAL ANALYSIS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02920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Feed the counts into your own code for further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2"/>
          <p:cNvSpPr/>
          <p:nvPr/>
        </p:nvSpPr>
        <p:spPr>
          <a:xfrm rot="-5400000">
            <a:off x="689075" y="2313700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804" name="Google Shape;804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05" name="Google Shape;805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6" name="Google Shape;806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7" name="Google Shape;807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09" name="Google Shape;809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1" name="Google Shape;811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813" name="Google Shape;813;p3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07</a:t>
            </a:r>
          </a:p>
        </p:txBody>
      </p:sp>
      <p:pic>
        <p:nvPicPr>
          <p:cNvPr id="814" name="Google Shape;81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32"/>
          <p:cNvSpPr txBox="1">
            <a:spLocks noGrp="1"/>
          </p:cNvSpPr>
          <p:nvPr>
            <p:ph type="title"/>
          </p:nvPr>
        </p:nvSpPr>
        <p:spPr>
          <a:xfrm>
            <a:off x="1136800" y="20082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17" name="Google Shape;817;p3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18" name="Google Shape;818;p3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19" name="Google Shape;819;p3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0" name="TextBox 81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INPUTS &amp; OUTPUTS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08</a:t>
            </a:r>
          </a:p>
        </p:txBody>
      </p:sp>
      <p:sp>
        <p:nvSpPr>
          <p:cNvPr id="860" name="Google Shape;860;p3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61" name="Google Shape;861;p3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62" name="Google Shape;862;p3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63" name="Google Shape;863;p3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4" name="TextBox 8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INPUT: THE PUB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914400" y="11887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Each job is a list of PUBs. A PUB bundles a circuit with its run settings.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73152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CIRCUIT</a:t>
            </a:r>
          </a:p>
        </p:txBody>
      </p:sp>
      <p:sp>
        <p:nvSpPr>
          <p:cNvPr id="867" name="TextBox 866"/>
          <p:cNvSpPr txBox="1"/>
          <p:nvPr/>
        </p:nvSpPr>
        <p:spPr>
          <a:xfrm>
            <a:off x="73152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Must measure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73152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Add measurements, or there is nothing to sample.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338328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PARAMETERS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338328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Optional values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338328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Bind values to a parametrized circuit to sweep many settings in one job.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603504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SHOTS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603504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Repetitions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603504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How many times to run the circuit. Set it per run or as a default.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5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915" name="Google Shape;915;p35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16" name="Google Shape;916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8" name="Google Shape;918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5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20" name="Google Shape;920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2" name="Google Shape;922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3" name="Google Shape;923;p35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924" name="Google Shape;924;p3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12</a:t>
            </a:r>
          </a:p>
        </p:txBody>
      </p:sp>
      <p:pic>
        <p:nvPicPr>
          <p:cNvPr id="925" name="Google Shape;92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27" name="Google Shape;927;p3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28" name="Google Shape;928;p3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29" name="Google Shape;929;p3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0" name="TextBox 92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IMPLEMENTATION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5120640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78" name="Google Shape;978;p37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13</a:t>
            </a:r>
          </a:p>
        </p:txBody>
      </p:sp>
      <p:sp>
        <p:nvSpPr>
          <p:cNvPr id="979" name="Google Shape;979;p3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80" name="Google Shape;980;p3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81" name="Google Shape;981;p3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82" name="Google Shape;982;p3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3" name="TextBox 982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Raleway"/>
              </a:rPr>
              <a:t>BASIC QISKIT IMPLEMENTATION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EXAMPLE: BELL STATE</a:t>
            </a:r>
          </a:p>
        </p:txBody>
      </p:sp>
      <p:sp>
        <p:nvSpPr>
          <p:cNvPr id="988" name="Rounded Rectangle 987"/>
          <p:cNvSpPr/>
          <p:nvPr/>
        </p:nvSpPr>
        <p:spPr>
          <a:xfrm>
            <a:off x="640080" y="1371600"/>
            <a:ext cx="6583680" cy="3200400"/>
          </a:xfrm>
          <a:prstGeom prst="roundRect">
            <a:avLst>
              <a:gd name="adj" fmla="val 3000"/>
            </a:avLst>
          </a:prstGeom>
          <a:solidFill>
            <a:srgbClr val="12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31520" y="1417320"/>
            <a:ext cx="649224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1. Build a Bell circuit with measurements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 = QuantumCircuit(2)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qc.h(0); qc.cx(0, 1); qc.measure_all()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2. Transpile for the backend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backend = QiskitRuntimeService().least_busy(simulator=False)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pm = generate_preset_pass_manager(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    optimization_level=3, backend=backend)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isa_qc = pm.run(qc)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3. Run with the Sampler primitive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sampler = SamplerV2(mode=backend)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job = sampler.run([isa_qc], shots=1024)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4. Read the counts from the "meas" register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print(job.result()[0].data.meas.get_counts())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7360920" y="15544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The result holds bitstring counts, mostly 00 and 11. Imports are omitted for space.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7360920" y="3291840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1 Build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2 Transpile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3 Run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4 Read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4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4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14" name="Google Shape;1214;p4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1215" name="Google Shape;1215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6" name="Google Shape;1216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7" name="Google Shape;1217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4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1219" name="Google Shape;1219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0" name="Google Shape;1220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1" name="Google Shape;1221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4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1223" name="Google Shape;1223;p4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</a:t>
            </a:r>
          </a:p>
        </p:txBody>
      </p:sp>
      <p:pic>
        <p:nvPicPr>
          <p:cNvPr id="1224" name="Google Shape;12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4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26" name="Google Shape;1226;p4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27" name="Google Shape;1227;p4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28" name="Google Shape;1228;p4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9" name="TextBox 122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SAMPLER OR ESTIMATOR?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914400" y="1234440"/>
            <a:ext cx="49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anken Grotesk"/>
              </a:rPr>
              <a:t>Choose by the question you ask.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914400" y="2103120"/>
            <a:ext cx="4900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Use the Sampler to see the full distribution of outcomes.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Use the Estimator to get expectation values of observables.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630936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SAMPLER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630936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ESTIMATOR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6309360" y="3520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Returns expectation values of the observables you define.</a:t>
            </a:r>
          </a:p>
        </p:txBody>
      </p:sp>
      <p:sp>
        <p:nvSpPr>
          <p:cNvPr id="1235" name="Clone 1235"/>
          <p:cNvSpPr txBox="1"/>
          <p:nvPr/>
        </p:nvSpPr>
        <p:spPr>
          <a:xfrm>
            <a:off x="6309360" y="2240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Returns bitstrings and their counts.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59" name="Google Shape;1259;p4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</a:t>
            </a:r>
          </a:p>
        </p:txBody>
      </p:sp>
      <p:sp>
        <p:nvSpPr>
          <p:cNvPr id="1260" name="Google Shape;1260;p4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61" name="Google Shape;1261;p4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62" name="Google Shape;1262;p4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63" name="Google Shape;1263;p4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4" name="TextBox 12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OUTPUT: BITSTRINGS &amp; COUNTS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91440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RAW SAMPLES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914400" y="1737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Each shot gives one bitstring, such as 00 or 11.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489204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COUNTS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489204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Count how often each bitstring appeared to estimate its probability.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9144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POINT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914400" y="33832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anken Grotesk"/>
              </a:rPr>
              <a:t>Results are stored per classical register. The default register from measure_all() is named meas.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78" name="Google Shape;1278;p4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79" name="Google Shape;1279;p4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80" name="Google Shape;1280;p44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81" name="Google Shape;1281;p4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2" name="TextBox 1281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THE SAMPLER WORKFLOW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73152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01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73152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Build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73152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Create a circuit and add measurements.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269748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02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269748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Transpile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269748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Convert it to match the chosen device.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466344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03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466344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Run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466344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Send it to the Sampler with a shot count.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662940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04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662940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Read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662940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Get bitstrings and counts from the result.</a:t>
            </a:r>
          </a:p>
        </p:txBody>
      </p:sp>
      <p:cxnSp>
        <p:nvCxnSpPr>
          <p:cNvPr id="1295" name="Connector 1294"/>
          <p:cNvCxnSpPr/>
          <p:nvPr/>
        </p:nvCxnSpPr>
        <p:spPr>
          <a:xfrm>
            <a:off x="155152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>
            <a:off x="351748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>
            <a:off x="548344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8" name="Clone 1298"/>
          <p:cNvSpPr txBox="1"/>
          <p:nvPr/>
        </p:nvSpPr>
        <p:spPr>
          <a:xfrm>
            <a:off x="731520" y="3840480"/>
            <a:ext cx="7680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The Sampler returns samples: what was actually measured.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4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8" name="Google Shape;1288;p45"/>
          <p:cNvSpPr/>
          <p:nvPr/>
        </p:nvSpPr>
        <p:spPr>
          <a:xfrm rot="5400000">
            <a:off x="5960295" y="4190447"/>
            <a:ext cx="2997102" cy="353913"/>
          </a:xfrm>
          <a:custGeom>
            <a:avLst/>
            <a:gdLst/>
            <a:ahLst/>
            <a:cxnLst/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89" name="Google Shape;1289;p45"/>
          <p:cNvGrpSpPr/>
          <p:nvPr/>
        </p:nvGrpSpPr>
        <p:grpSpPr>
          <a:xfrm>
            <a:off x="5923458" y="1569341"/>
            <a:ext cx="3360485" cy="1171564"/>
            <a:chOff x="5923458" y="2066691"/>
            <a:chExt cx="3360485" cy="1171564"/>
          </a:xfrm>
        </p:grpSpPr>
        <p:grpSp>
          <p:nvGrpSpPr>
            <p:cNvPr id="1290" name="Google Shape;1290;p45"/>
            <p:cNvGrpSpPr/>
            <p:nvPr/>
          </p:nvGrpSpPr>
          <p:grpSpPr>
            <a:xfrm rot="-5400000">
              <a:off x="7132284" y="1086595"/>
              <a:ext cx="942834" cy="3360485"/>
              <a:chOff x="6777434" y="2296620"/>
              <a:chExt cx="942834" cy="3360485"/>
            </a:xfrm>
          </p:grpSpPr>
          <p:grpSp>
            <p:nvGrpSpPr>
              <p:cNvPr id="1291" name="Google Shape;1291;p45"/>
              <p:cNvGrpSpPr/>
              <p:nvPr/>
            </p:nvGrpSpPr>
            <p:grpSpPr>
              <a:xfrm rot="10800000">
                <a:off x="6777434" y="2296620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1292" name="Google Shape;1292;p45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3" name="Google Shape;1293;p45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94" name="Google Shape;1294;p45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5" name="Google Shape;1295;p45"/>
              <p:cNvSpPr/>
              <p:nvPr/>
            </p:nvSpPr>
            <p:spPr>
              <a:xfrm>
                <a:off x="7680212" y="3999936"/>
                <a:ext cx="40056" cy="44088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2620" extrusionOk="0">
                    <a:moveTo>
                      <a:pt x="573" y="1"/>
                    </a:moveTo>
                    <a:cubicBezTo>
                      <a:pt x="240" y="1"/>
                      <a:pt x="1" y="240"/>
                      <a:pt x="1" y="573"/>
                    </a:cubicBezTo>
                    <a:lnTo>
                      <a:pt x="1" y="12046"/>
                    </a:lnTo>
                    <a:cubicBezTo>
                      <a:pt x="1" y="12351"/>
                      <a:pt x="240" y="12619"/>
                      <a:pt x="573" y="12619"/>
                    </a:cubicBezTo>
                    <a:cubicBezTo>
                      <a:pt x="878" y="12619"/>
                      <a:pt x="1146" y="12351"/>
                      <a:pt x="1146" y="12046"/>
                    </a:cubicBezTo>
                    <a:lnTo>
                      <a:pt x="1146" y="573"/>
                    </a:lnTo>
                    <a:cubicBezTo>
                      <a:pt x="1146" y="240"/>
                      <a:pt x="878" y="1"/>
                      <a:pt x="5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5"/>
              <p:cNvSpPr/>
              <p:nvPr/>
            </p:nvSpPr>
            <p:spPr>
              <a:xfrm rot="10800000">
                <a:off x="7160463" y="4347766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5"/>
              <p:cNvSpPr/>
              <p:nvPr/>
            </p:nvSpPr>
            <p:spPr>
              <a:xfrm rot="10800000">
                <a:off x="6933883" y="36133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45"/>
            <p:cNvGrpSpPr/>
            <p:nvPr/>
          </p:nvGrpSpPr>
          <p:grpSpPr>
            <a:xfrm rot="5400000">
              <a:off x="7005414" y="2134696"/>
              <a:ext cx="493321" cy="357312"/>
              <a:chOff x="1722354" y="229144"/>
              <a:chExt cx="1748744" cy="1266614"/>
            </a:xfrm>
          </p:grpSpPr>
          <p:sp>
            <p:nvSpPr>
              <p:cNvPr id="1299" name="Google Shape;1299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1" name="Google Shape;1301;p4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14</a:t>
            </a:r>
          </a:p>
        </p:txBody>
      </p:sp>
      <p:sp>
        <p:nvSpPr>
          <p:cNvPr id="1302" name="Google Shape;1302;p4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03" name="Google Shape;1303;p4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04" name="Google Shape;1304;p4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305" name="Google Shape;1305;p4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6" name="TextBox 130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RESOURCES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914400" y="123444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IBM QUANTUM LEARNING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914400" y="164592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Qiskit Runtime primitives and Sampler examples.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914400" y="242316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QISKIT DOCUMENTATION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914400" y="283464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SamplerV2 reference and primitive inputs and outputs (PUBs).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914400" y="361188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TAKEAWAY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914400" y="402336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The Sampler returns measured bitstrings and counts.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6"/>
          <p:cNvSpPr txBox="1">
            <a:spLocks noGrp="1"/>
          </p:cNvSpPr>
          <p:nvPr>
            <p:ph type="title"/>
          </p:nvPr>
        </p:nvSpPr>
        <p:spPr>
          <a:xfrm>
            <a:off x="873347" y="1119275"/>
            <a:ext cx="5495400" cy="1199100"/>
          </a:xfrm>
          <a:prstGeom prst="rect">
            <a:avLst/>
          </a:prstGeom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4200">
                <a:solidFill>
                  <a:srgbClr val="FFFFFF"/>
                </a:solidFill>
                <a:latin typeface="Raleway"/>
              </a:rPr>
              <a:t>THANKS!</a:t>
            </a:r>
            <a:endParaRPr sz="4201"/>
          </a:p>
        </p:txBody>
      </p:sp>
      <p:sp>
        <p:nvSpPr>
          <p:cNvPr id="1311" name="Google Shape;1311;p46"/>
          <p:cNvSpPr/>
          <p:nvPr/>
        </p:nvSpPr>
        <p:spPr>
          <a:xfrm rot="-5400000">
            <a:off x="367551" y="1527878"/>
            <a:ext cx="441426" cy="381778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46"/>
          <p:cNvGrpSpPr/>
          <p:nvPr/>
        </p:nvGrpSpPr>
        <p:grpSpPr>
          <a:xfrm>
            <a:off x="2300981" y="-283244"/>
            <a:ext cx="5859225" cy="1631012"/>
            <a:chOff x="2389175" y="-353800"/>
            <a:chExt cx="5859225" cy="1631012"/>
          </a:xfrm>
        </p:grpSpPr>
        <p:sp>
          <p:nvSpPr>
            <p:cNvPr id="1313" name="Google Shape;1313;p46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314" name="Google Shape;1314;p46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1315" name="Google Shape;1315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7" name="Google Shape;131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692953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4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15</a:t>
            </a:r>
          </a:p>
        </p:txBody>
      </p:sp>
      <p:pic>
        <p:nvPicPr>
          <p:cNvPr id="1319" name="Google Shape;13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12" y="4344823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6"/>
          <p:cNvSpPr txBox="1">
            <a:spLocks noGrp="1"/>
          </p:cNvSpPr>
          <p:nvPr>
            <p:ph type="title"/>
          </p:nvPr>
        </p:nvSpPr>
        <p:spPr>
          <a:xfrm>
            <a:off x="3131275" y="2162550"/>
            <a:ext cx="46914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rgbClr val="FFFFFF"/>
                </a:solidFill>
                <a:latin typeface="Raleway"/>
              </a:rPr>
              <a:t>DO YOU HAVE ANY QUESTIONS?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2" name="Google Shape;13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26" name="Google Shape;1326;p4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27" name="Google Shape;1327;p4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328" name="Google Shape;1328;p4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9" name="TextBox 1328"/>
          <p:cNvSpPr txBox="1"/>
          <p:nvPr/>
        </p:nvSpPr>
        <p:spPr>
          <a:xfrm>
            <a:off x="26060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278892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1131</Words>
  <Application>Microsoft Office PowerPoint</Application>
  <PresentationFormat>On-screen Show (16:9)</PresentationFormat>
  <Paragraphs>229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IBM Plex Sans</vt:lpstr>
      <vt:lpstr>Raleway Black</vt:lpstr>
      <vt:lpstr>Hanken Grotesk Light</vt:lpstr>
      <vt:lpstr>Anaheim</vt:lpstr>
      <vt:lpstr>Calibri</vt:lpstr>
      <vt:lpstr>Hanken Grotesk</vt:lpstr>
      <vt:lpstr>Arial</vt:lpstr>
      <vt:lpstr>Raleway</vt:lpstr>
      <vt:lpstr>Raleway ExtraBold</vt:lpstr>
      <vt:lpstr>Nunito Light</vt:lpstr>
      <vt:lpstr>Technology Market Research Pitch Deck by Slidesgo</vt:lpstr>
      <vt:lpstr>Foundations — Qubits, Gates &amp; Superposition </vt:lpstr>
      <vt:lpstr>01</vt:lpstr>
      <vt:lpstr>06</vt:lpstr>
      <vt:lpstr>03</vt:lpstr>
      <vt:lpstr>04</vt:lpstr>
      <vt:lpstr>05</vt:lpstr>
      <vt:lpstr>06</vt:lpstr>
      <vt:lpstr>07</vt:lpstr>
      <vt:lpstr>08</vt:lpstr>
      <vt:lpstr>09</vt:lpstr>
      <vt:lpstr>10</vt:lpstr>
      <vt:lpstr>Q4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Shahzadi</cp:lastModifiedBy>
  <cp:revision>2</cp:revision>
  <dcterms:modified xsi:type="dcterms:W3CDTF">2026-08-24T14:30:15Z</dcterms:modified>
</cp:coreProperties>
</file>